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Neural network and learning are borrowed names for a search over numbers</a:t>
            </a:r>
          </a:p>
        </p:txBody>
      </p:sp>
      <p:pic>
        <p:nvPicPr>
          <p:cNvPr descr="01-what-training-chang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Neural network</a:t>
            </a:r>
          </a:p>
          <a:p>
            <a:pPr lvl="0" indent="0" marL="0">
              <a:buNone/>
            </a:pPr>
            <a:r>
              <a:rPr/>
              <a:t>layers of multiply-and-add, named after a biological analogy</a:t>
            </a:r>
          </a:p>
          <a:p>
            <a:pPr lvl="0" indent="0" marL="0">
              <a:buNone/>
            </a:pPr>
            <a:r>
              <a:rPr b="1"/>
              <a:t>Learning</a:t>
            </a:r>
          </a:p>
          <a:p>
            <a:pPr lvl="0" indent="0" marL="0">
              <a:buNone/>
            </a:pPr>
            <a:r>
              <a:rPr/>
              <a:t>a search for values that lower the error</a:t>
            </a:r>
          </a:p>
          <a:p>
            <a:pPr lvl="0" indent="0" marL="0">
              <a:buNone/>
            </a:pPr>
            <a:r>
              <a:rPr b="1"/>
              <a:t>The brain comparison</a:t>
            </a:r>
          </a:p>
          <a:p>
            <a:pPr lvl="0" indent="0" marL="0">
              <a:buNone/>
            </a:pPr>
            <a:r>
              <a:rPr/>
              <a:t>correlational; the appendix carries what it establishes</a:t>
            </a:r>
          </a:p>
          <a:p>
            <a:pPr lvl="0" indent="0" marL="0">
              <a:buNone/>
            </a:pPr>
            <a:r>
              <a:rPr/>
              <a:t>Source: Schrimpf, M., Blank, I. A., Tuckute, G., et al., 2021. </a:t>
            </a:r>
            <a:r>
              <a:rPr i="1"/>
              <a:t>PNAS</a:t>
            </a:r>
            <a:r>
              <a:rPr/>
              <a:t> 118(45):e2105646118 Hadidi, N., Feghhi, E., Song, B. H., Blank, I. A. Kao, J. C., 2026. </a:t>
            </a:r>
            <a:r>
              <a:rPr i="1"/>
              <a:t>Nature Communications</a:t>
            </a:r>
            <a:r>
              <a:rPr/>
              <a:t> 17(1):5769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Softmax converts the scores into probabilities that add up to 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 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exp</m:t>
                          </m:r>
                          <m: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limUpp>
                                <m:e>
                                  <m:groupChr>
                                    <m:groupChrPr>
                                      <m:chr m:val="⏞"/>
                                      <m:pos m:val="top"/>
                                      <m:vertJc m:val="bot"/>
                                    </m:groupChrPr>
                                    <m:e>
                                      <m:sSub>
                                        <m:e>
                                          <m: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nor/>
                                      <m:sty m:val="p"/>
                                    </m:rPr>
                                    <m:t>score for token </m:t>
                                  </m:r>
                                  <m:r>
                                    <m:t>i</m:t>
                                  </m:r>
                                </m:lim>
                              </m:limUpp>
                              <m:r>
                                <m:rPr>
                                  <m:sty m:val="p"/>
                                </m:rPr>
                                <m:t>/</m:t>
                              </m:r>
                              <m:limLow>
                                <m:e>
                                  <m:limLow>
                                    <m:e>
                                      <m:r>
                                        <m:t>T</m:t>
                                      </m: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m:t>⏟</m:t>
                                      </m:r>
                                    </m:lim>
                                  </m:limLow>
                                </m:e>
                                <m:lim>
                                  <m:r>
                                    <m:rPr>
                                      <m:nor/>
                                      <m:sty m:val="p"/>
                                    </m:rPr>
                                    <m:t>temperature</m:t>
                                  </m:r>
                                </m:lim>
                              </m:limLow>
                            </m:e>
                          </m:d>
                        </m:num>
                        <m:den>
                          <m:limLow>
                            <m:e>
                              <m:limLow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ff"/>
                                      <m:supHide m:val="on"/>
                                    </m:naryPr>
                                    <m:sub>
                                      <m:r>
                                        <m:t>j</m:t>
                                      </m:r>
                                    </m:sub>
                                    <m:sup>
                                      <m:r>
                                        <m:t>​</m:t>
                                      </m:r>
                                    </m: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exp</m:t>
                                      </m:r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/</m:t>
                                  </m:r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m:t>sum over every token, so the result adds to </m:t>
                              </m:r>
                              <m:r>
                                <m:t>1</m:t>
                              </m:r>
                            </m:lim>
                          </m:limLow>
                        </m:den>
                      </m:f>
                    </m:oMath>
                  </m:oMathPara>
                </a14:m>
              </a:p>
            </p:txBody>
          </p:sp>
        </mc:Choice>
      </mc:AlternateContent>
      <p:pic>
        <p:nvPicPr>
          <p:cNvPr descr="01-softmax-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19200"/>
            <a:ext cx="51054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Worked case</a:t>
                </a:r>
                <a:r>
                  <a:rPr/>
                  <a:t> — two tokens, scores 2.0 and 1.0, at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t>2.0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t>2.0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t>1.0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7.389</m:t>
                          </m:r>
                        </m:num>
                        <m:den>
                          <m:r>
                            <m:t>7.389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2.718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0.731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All quantities dimensionless.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carry no units, and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is a probability.</a:t>
                </a:r>
              </a:p>
              <a:p>
                <a:pPr lvl="0" indent="0" marL="0">
                  <a:buNone/>
                </a:pPr>
                <a:r>
                  <a:rPr/>
                  <a:t>Source: No source. The equation is standard and the arithmetic is checked in 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2026-08-20T22:41:47Z</dcterms:created>
  <dcterms:modified xsi:type="dcterms:W3CDTF">2026-08-20T22:41:47Z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