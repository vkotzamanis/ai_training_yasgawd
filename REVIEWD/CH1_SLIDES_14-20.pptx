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MESSAGE. A neuron is a weighted sum, plus an offset, passed through a fixed non-linear function — and with the identity function in that slot, it is exactly the linear regression this audience already uses.</a:t>
            </a:r>
          </a:p>
          <a:p/>
          <a:p>
            <a:r>
              <a:t>OPENS: weights, bias, activation function.</a:t>
            </a:r>
          </a:p>
          <a:p>
            <a:r>
              <a:t>CLOSES: activation function — including slide 2's "non-linear activation" and slide 6's "non-linear transformations", which name φ without giving it. The catalogue on the slide is the complete treatment at deck level; the derivatives are Supplement §S10 and the approximation theorem is §S11. Nothing before this slide is reopened.</a:t>
            </a:r>
          </a:p>
          <a:p/>
          <a:p>
            <a:r>
              <a:t>SPEAKER NOTE. Anchor on the regression identity before showing the catalogue; the audience fits ŷ = β·x + β₀ weekly. The four curves answer "what does the non-linearity look like"; which one a given architecture uses is a design constant, not something the user tunes. Do not discuss derivatives here — they matter only for training. Supplement §S10 lists them; §S12 uses them.</a:t>
            </a:r>
          </a:p>
          <a:p/>
          <a:p>
            <a:r>
              <a:t>EQUATIONS ON THIS SLIDE — LaTeX verbatim from the content spec (re-typeset natively with the PowerPoint equation editor if you prefer):</a:t>
            </a:r>
          </a:p>
          <a:p>
            <a:r>
              <a:t>    $$ a \;=\; \varphi\!\left(\mathbf{w}\cdot\mathbf{x} + b\right) $$</a:t>
            </a:r>
          </a:p>
          <a:p>
            <a:r>
              <a:t>    $$ \sigma(u)=\dfrac{1}{1+e^{-u}} $$</a:t>
            </a:r>
          </a:p>
          <a:p>
            <a:r>
              <a:t>    $$ \tanh(u)=\dfrac{e^{u}-e^{-u}}{e^{u}+e^{-u}} $$</a:t>
            </a:r>
          </a:p>
          <a:p>
            <a:r>
              <a:t>    $$ \mathrm{ReLU}(u)=\max(0,u) $$</a:t>
            </a:r>
          </a:p>
          <a:p>
            <a:r>
              <a:t>    $$ \mathrm{GELU}(u)=u\,\Phi(u) $$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MESSAGE. A layer is many neurons sharing the same input; a network is layers composed; width and depth are the two independent size knobs, and together they set the parameter count.</a:t>
            </a:r>
          </a:p>
          <a:p/>
          <a:p>
            <a:r>
              <a:t>OPENS: hidden state h, width, depth, parameter count |θ|.</a:t>
            </a:r>
          </a:p>
          <a:p>
            <a:r>
              <a:t>CLOSES: "multi-layered" from slide 2's LLM definition and "layered architecture" from slide 6's Network definition — both now have equations. DEBT FORWARD: where these layers sit inside an LLM → slide 17.</a:t>
            </a:r>
          </a:p>
          <a:p/>
          <a:p>
            <a:r>
              <a:t>SPEAKER NOTE. The universal-approximation line carries two qualifiers (width unspecified, trainability unaddressed) — read them aloud; they are what keeps the theorem honest, and the lab's E4 grid is the empirical counterpart. Citations: Cybenko (1989), Hornik (1991) — single author. Both bibliographic records are confirmed; see the Supplement references block.</a:t>
            </a:r>
          </a:p>
          <a:p/>
          <a:p>
            <a:r>
              <a:t>EQUATIONS ON THIS SLIDE — LaTeX verbatim from the content spec (re-typeset natively with the PowerPoint equation editor if you prefer):</a:t>
            </a:r>
          </a:p>
          <a:p>
            <a:r>
              <a:t>    $$ \mathbf{h}^{(0)}=\mathbf{x}, \qquad \mathbf{h}^{(\ell)}=\varphi\!\left(W^{(\ell)}\mathbf{h}^{(\ell-1)}+\mathbf{b}^{(\ell)}\right), \quad \ell=1,\dots,L $$</a:t>
            </a:r>
          </a:p>
          <a:p>
            <a:r>
              <a:t>    $$ |\theta|=\sum_{\ell} d_\ell\,(d_{\ell-1}+1) $$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MESSAGE. The network computes with vectors; the embedding matrix is the learned lookup table that turns a token ID into a vector, and position gets its own vector added on top.</a:t>
            </a:r>
          </a:p>
          <a:p/>
          <a:p>
            <a:r>
              <a:t>OPENS: embedding matrix E, d_model, positional encoding.</a:t>
            </a:r>
          </a:p>
          <a:p>
            <a:r>
              <a:t>CLOSES: the loose end from slide 9 — what the Token ID is *for* (it is the row index into E); and slide 6's "Network multiplies against token vectors" (this slide is where those vectors come from). Positional encoding is closed at deck level here; its equations live in Supplement §S3.</a:t>
            </a:r>
          </a:p>
          <a:p/>
          <a:p>
            <a:r>
              <a:t>SPEAKER NOTE. The live-demo lab skips E and feeds one-hot indicator vectors directly — the special case E = I; the handout states it as "one-hot tokens". Mention it during the demo, not here. Sinusoidal and rotary positional encodings: Supplement §S3.</a:t>
            </a:r>
          </a:p>
          <a:p/>
          <a:p>
            <a:r>
              <a:t>EQUATIONS ON THIS SLIDE — LaTeX verbatim from the content spec (re-typeset natively with the PowerPoint equation editor if you prefer):</a:t>
            </a:r>
          </a:p>
          <a:p>
            <a:r>
              <a:t>    $$ \mathbf{e}_{v} = \text{row } v \text{ of } E, \qquad E \in \mathbb{R}^{|\mathcal{V}|\times d_{\text{model}}} $$</a:t>
            </a:r>
          </a:p>
          <a:p>
            <a:r>
              <a:t>    $$ \mathbf{h}_i^{(0)} = \mathbf{e}_{x_i} + \mathbf{p}_i, \qquad i = 1,\dots,k $$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MESSAGE. The T-Decoder box from slides 12–13 is a stack of N identical blocks, each pairing self-attention (positions exchange information, weighted by learned relevance) with a feed-forward layer (each position processed independently) — and attention is where the context-window cost of slide 5 comes from.</a:t>
            </a:r>
          </a:p>
          <a:p/>
          <a:p>
            <a:r>
              <a:t>OPENS: attention, query/key/value, causal mask, multi-head, residual connection, layer normalization, block count N.</a:t>
            </a:r>
          </a:p>
          <a:p>
            <a:r>
              <a:t>CLOSES: the *Transformer* name; slide 5's O(k_max²) compute claim (the quadratic term is attention's all-pairs score matrix); the T-Decoder box of slides 12–13. Multi-head, residual, and layer norm are closed at headline depth — Supplement §S4–S5 carries their full equations and the worked numeric example. Why the stack is a *decoder* and not an encoder is Supplement §S4a. DEBT BACKWARD PAID ON 18: softmax is used in the attention equation on the slide as a black box — row-wise, it converts a row of scores into weights that are positive and sum to one. Slide 18 defines it.</a:t>
            </a:r>
          </a:p>
          <a:p/>
          <a:p>
            <a:r>
              <a:t>SPEAKER NOTE. Depth budget of the slide: name each part, one clause of function, where its math lives. The Supplement's §S4 has the 3-token, d_k = 2 worked example for anyone who wants numbers, plus the √d_k variance derivation and the KV-cache note. During the demo, state once: the lab has every output-stage ingredient and no attention — that absence is what the handout's "Claims you can defend, and two you cannot" leans on.</a:t>
            </a:r>
          </a:p>
          <a:p/>
          <a:p>
            <a:r>
              <a:t>EQUATIONS ON THIS SLIDE — LaTeX verbatim from the content spec (re-typeset natively with the PowerPoint equation editor if you prefer):</a:t>
            </a:r>
          </a:p>
          <a:p>
            <a:r>
              <a:t>    $$ \text{Attention}(Q,K,V)=\mathrm{softmax}\!\left(\frac{QK^{\top}}{\sqrt{d_k}}\right)V, \qquad Q=HW_Q,\; K=HW_K,\; V=HW_V $$</a:t>
            </a:r>
          </a:p>
          <a:p>
            <a:r>
              <a:t>    $$ \mathbf{h} \leftarrow \mathbf{h}+\text{sublayer}(\mathrm{LN}(\mathbf{h})) $$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MESSAGE. The network's final act is a score per vocabulary token (the logit); softmax turns scores into the probability distribution the whole deck has been promising; temperature is a dial on that conversion's contrast.</a:t>
            </a:r>
          </a:p>
          <a:p/>
          <a:p>
            <a:r>
              <a:t>OPENS: logit z (as output of unembedding W_U), temperature T.</a:t>
            </a:r>
          </a:p>
          <a:p>
            <a:r>
              <a:t>CLOSES: "what a logit is" (the old placeholder's demand); slide 6's "Output: probability distribution per Token" (this is the mechanism). The Case Study 1 slide already prints this quotient without naming it; this slide is the name's definition slot, and the case study becomes a use of it.</a:t>
            </a:r>
          </a:p>
          <a:p/>
          <a:p>
            <a:r>
              <a:t>SPEAKER NOTE. Show the three-temperature bar chart on the next slide rather than here — this slide defines, slide 19 computes. In the live demo, the bottom-left panel of `llm_lab.m`'s live figure (the P(v|ctx) bar chart) is exactly P_{T=1}; point at it and say "logits, after softmax."</a:t>
            </a:r>
          </a:p>
          <a:p/>
          <a:p>
            <a:r>
              <a:t>EQUATIONS ON THIS SLIDE — LaTeX verbatim from the content spec (re-typeset natively with the PowerPoint equation editor if you prefer):</a:t>
            </a:r>
          </a:p>
          <a:p>
            <a:r>
              <a:t>    $$ \mathbf{z} = W_U\,\mathbf{h}_k^{(N)} + \mathbf{b}_U, \qquad \mathbf{z}\in\mathbb{R}^{|\mathcal{V}|} $$</a:t>
            </a:r>
          </a:p>
          <a:p>
            <a:r>
              <a:t>    $$ P_T(\mathbf{x}_{k+1}=v \,|\, \mathbf{x}_{1:k};\theta) \;=\; \frac{e^{z_v/T}}{\sum_{j\in\mathcal{V}} e^{z_j/T}} $$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MESSAGE. The network is a deterministic function; the product is stochastic because one pseudo-random draw per token selects from P_T — so variance across responses is a designed feature located entirely at the sampling step, and the seed controls the draw.</a:t>
            </a:r>
          </a:p>
          <a:p/>
          <a:p>
            <a:r>
              <a:t>OPENS: sampling policies (greedy, temperature, top-k, top-p), seed.</a:t>
            </a:r>
          </a:p>
          <a:p>
            <a:r>
              <a:t>CLOSES: the entire "Introducing Variance" placeholder: randomness, seeds, temperature — plus the worked example it demanded. After this slide, output variance is never re-derived; later chapters may only reference it.</a:t>
            </a:r>
          </a:p>
          <a:p/>
          <a:p>
            <a:r>
              <a:t>SPEAKER NOTE. The one-sentence takeaway to say out loud: *randomness is a dial the operator sets, and it lives outside the network.* If someone asks why regenerating an answer changes it while the weights are static (slide 7: *Static Weights*), this slide is the complete answer. The planned lab extension adds exactly this draw to the prompt loop so the class can watch T work — see the demo-change list.</a:t>
            </a:r>
          </a:p>
          <a:p/>
          <a:p>
            <a:r>
              <a:t>TABLE SOURCE (verbatim from the spec): logits z = (2.0, 1.0, 0.2, −1.0); P_{T=0.5} = 0.858 / 0.116 / 0.023 / 0.002; P_{T=1} = 0.632 / 0.232 / 0.104 / 0.031; P_{T=2} = 0.447 / 0.271 / 0.182 / 0.100. Cumulative sums of P_{T=1}: (0.632, 0.864, 0.969, 1.000).</a:t>
            </a:r>
          </a:p>
          <a:p/>
          <a:p>
            <a:r>
              <a:t>EQUATIONS ON THIS SLIDE — LaTeX verbatim from the content spec (re-typeset natively with the PowerPoint equation editor if you prefer):</a:t>
            </a:r>
          </a:p>
          <a:p>
            <a:r>
              <a:t>    $$ \mathbf{x}_{k+1} \sim \mathrm{Categorical}\!\left(P_T(\cdot \,|\, \mathbf{x}_{1:k};\theta)\right) $$</a:t>
            </a:r>
          </a:p>
          <a:p>
            <a:r>
              <a:t>    $$ P_T(\mathbf{x}_{k+1}=v \,|\, \mathbf{x}_{1:k};\theta) \;=\; \frac{e^{z_v/T}}{\sum_{j\in\mathcal{V}} e^{z_j/T}} $$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MESSAGE. One pass of the pipeline produces one token; the loop that feeds each new token back is ordinary code outside the network, and it — not the model — decides when to stop. The five boxes that sit on the generation path — Tokenizer, T-Decoder, Action Sampling, Token Balance, Agent Harness — land on numbered steps; Supplement §S16 places the remaining seventeen.</a:t>
            </a:r>
          </a:p>
          <a:p/>
          <a:p>
            <a:r>
              <a:t>OPENS: decoding loop, &lt;eos&gt; token.</a:t>
            </a:r>
          </a:p>
          <a:p>
            <a:r>
              <a:t>CLOSES: the NETWORK &amp; OUTPUT section: slide 5's Inference definition is now mechanically complete; the T-Decoder / Action Sampling / Tokenizer boxes of slides 12–13 land on numbered pipeline steps. Also closed here, open until now: weights and bias (14); hidden state, width, depth and |θ| (15); E and d_model (16); attention, Q/K/V, causal mask and N (17); logit and W_U (18). Sets up Case Study 1 with one sentence (training = how θ was chosen).</a:t>
            </a:r>
          </a:p>
          <a:p/>
          <a:p>
            <a:r>
              <a:t>SPEAKER NOTE. This is the "everything clicks" slide the placeholder asked for — walk it slowly; it is also the map you return to during the live demo ("we are at step 5; here is the bar chart"). The demo's decoder generates a fixed number of tokens and ignores &lt;eos&gt;; a loop that honors it tells a different story — a strong 30-second aside at step 7. Caution from the peer review: the handout's eos-comparison numbers have no shipped code behind them, so implement the 3-line break variant and regenerate those numbers before quoting them (`MATLAB_EXAMPLES/PEER_REVIEW_2026-08-27.md`).</a:t>
            </a:r>
          </a:p>
          <a:p/>
          <a:p>
            <a:r>
              <a:t>EQUATIONS ON THIS SLIDE — LaTeX verbatim from the content spec (re-typeset natively with the PowerPoint equation editor if you prefer):</a:t>
            </a:r>
          </a:p>
          <a:p>
            <a:r>
              <a:t>    $$ \mathbf{h}_i^{(0)} = \mathbf{e}_{x_i}+\mathbf{p}_i $$</a:t>
            </a:r>
          </a:p>
          <a:p>
            <a:r>
              <a:t>    $$ \to \mathbf{h}_k^{(N)} $$</a:t>
            </a:r>
          </a:p>
          <a:p>
            <a:r>
              <a:t>    $$ \mathbf{z} = W_U\,\mathbf{h}_k^{(N)}+\mathbf{b}_U $$</a:t>
            </a:r>
          </a:p>
          <a:p>
            <a:r>
              <a:t>    $$ P_T = \mathrm{softmax}(\mathbf{z}/T) $$</a:t>
            </a:r>
          </a:p>
          <a:p>
            <a:r>
              <a:t>    $$ \mathbf{x}_{k+1}\sim\mathrm{Categorical}(P_T) $$</a:t>
            </a:r>
          </a:p>
          <a:p>
            <a:r>
              <a:t>    $$ k \leftarrow k+1 $$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598017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" name="Picture 2" descr="logo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0"/>
            <a:ext cx="711403" cy="5980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6112" y="27432"/>
            <a:ext cx="6400800" cy="543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2400" b="1" i="0">
                <a:solidFill>
                  <a:srgbClr val="FFF9D9"/>
                </a:solidFill>
                <a:latin typeface="Times New Roman"/>
                <a:cs typeface="Times New Roman"/>
              </a:rPr>
              <a:t>Chapter 1: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"/>
            <a:ext cx="1234440" cy="543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2000" b="0" i="0">
                <a:solidFill>
                  <a:srgbClr val="F6BE00"/>
                </a:solidFill>
                <a:latin typeface="Times New Roman"/>
                <a:cs typeface="Times New Roman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9691" y="566928"/>
            <a:ext cx="10747857" cy="95097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4000" b="0" i="0">
                <a:solidFill>
                  <a:srgbClr val="000000"/>
                </a:solidFill>
                <a:latin typeface="Times New Roman"/>
                <a:cs typeface="Times New Roman"/>
              </a:rPr>
              <a:t>Neural Network: The Neuron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8835" y="1687982"/>
            <a:ext cx="10747857" cy="19050"/>
          </a:xfrm>
          <a:prstGeom prst="rect">
            <a:avLst/>
          </a:prstGeom>
          <a:solidFill>
            <a:srgbClr val="960C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footer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" y="5943600"/>
            <a:ext cx="11048695" cy="8887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8835" y="1819656"/>
            <a:ext cx="1074785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000000"/>
                </a:solidFill>
                <a:latin typeface="Times New Roman"/>
                <a:cs typeface="Times New Roman"/>
              </a:rPr>
              <a:t>Let's define the smallest unit of the </a:t>
            </a:r>
            <a:r>
              <a:rPr sz="1350" b="1" i="1">
                <a:solidFill>
                  <a:srgbClr val="960C22"/>
                </a:solidFill>
                <a:latin typeface="Times New Roman"/>
                <a:cs typeface="Times New Roman"/>
              </a:rPr>
              <a:t>program</a:t>
            </a:r>
            <a:r>
              <a:rPr sz="1350" b="0" i="1">
                <a:solidFill>
                  <a:srgbClr val="000000"/>
                </a:solidFill>
                <a:latin typeface="Times New Roman"/>
                <a:cs typeface="Times New Roman"/>
              </a:rPr>
              <a:t> that calculates "</a:t>
            </a:r>
            <a:r>
              <a:rPr sz="1350" b="1" i="1">
                <a:solidFill>
                  <a:srgbClr val="00866C"/>
                </a:solidFill>
                <a:latin typeface="Times New Roman"/>
                <a:cs typeface="Times New Roman"/>
              </a:rPr>
              <a:t>what would come next</a:t>
            </a:r>
            <a:r>
              <a:rPr sz="1350" b="0" i="1">
                <a:solidFill>
                  <a:srgbClr val="000000"/>
                </a:solidFill>
                <a:latin typeface="Times New Roman"/>
                <a:cs typeface="Times New Roman"/>
              </a:rPr>
              <a:t>", using the </a:t>
            </a:r>
            <a:r>
              <a:rPr sz="1350" b="1" i="1">
                <a:solidFill>
                  <a:srgbClr val="B97800"/>
                </a:solidFill>
                <a:latin typeface="Times New Roman"/>
                <a:cs typeface="Times New Roman"/>
              </a:rPr>
              <a:t>model's weights</a:t>
            </a:r>
            <a:r>
              <a:rPr sz="1350" b="0" i="1">
                <a:solidFill>
                  <a:srgbClr val="000000"/>
                </a:solidFill>
                <a:latin typeface="Times New Roman"/>
                <a:cs typeface="Times New Roman"/>
              </a:rPr>
              <a:t> and the </a:t>
            </a:r>
            <a:r>
              <a:rPr sz="1350" b="1" i="1">
                <a:solidFill>
                  <a:srgbClr val="7030A0"/>
                </a:solidFill>
                <a:latin typeface="Times New Roman"/>
                <a:cs typeface="Times New Roman"/>
              </a:rPr>
              <a:t>prompt</a:t>
            </a:r>
            <a:r>
              <a:rPr sz="1350" b="0" i="1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</a:p>
        </p:txBody>
      </p:sp>
      <p:pic>
        <p:nvPicPr>
          <p:cNvPr id="10" name="Picture 9" descr="s14_neuron_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898" y="2194560"/>
            <a:ext cx="1376172" cy="2217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8835" y="2544318"/>
            <a:ext cx="10747857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4543" indent="-234543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❑ </a:t>
            </a:r>
            <a:r>
              <a:rPr sz="1350" b="1" i="0">
                <a:solidFill>
                  <a:srgbClr val="960C22"/>
                </a:solidFill>
                <a:latin typeface="Times New Roman"/>
                <a:cs typeface="Times New Roman"/>
              </a:rPr>
              <a:t>Weight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sz="1350" b="1" i="1">
                <a:solidFill>
                  <a:srgbClr val="000000"/>
                </a:solidFill>
                <a:latin typeface="Times New Roman"/>
                <a:cs typeface="Times New Roman"/>
              </a:rPr>
              <a:t>w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: how strongly each input moves the output. Set in training (slide 7).</a:t>
            </a:r>
          </a:p>
          <a:p>
            <a:pPr algn="l" marL="234543" indent="-234543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❑ </a:t>
            </a:r>
            <a:r>
              <a:rPr sz="1350" b="1" i="0">
                <a:solidFill>
                  <a:srgbClr val="960C22"/>
                </a:solidFill>
                <a:latin typeface="Times New Roman"/>
                <a:cs typeface="Times New Roman"/>
              </a:rPr>
              <a:t>Bias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sz="1350" b="0" i="1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: the output when every input is zero.</a:t>
            </a:r>
          </a:p>
          <a:p>
            <a:pPr algn="l" marL="234543" indent="-234543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❑ </a:t>
            </a:r>
            <a:r>
              <a:rPr sz="1350" b="1" i="0">
                <a:solidFill>
                  <a:srgbClr val="960C22"/>
                </a:solidFill>
                <a:latin typeface="Times New Roman"/>
                <a:cs typeface="Times New Roman"/>
              </a:rPr>
              <a:t>Activation Function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sz="1350" b="0" i="1">
                <a:solidFill>
                  <a:srgbClr val="000000"/>
                </a:solidFill>
                <a:latin typeface="Times New Roman"/>
                <a:cs typeface="Times New Roman"/>
              </a:rPr>
              <a:t>φ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: a fixed scalar function applied to the weighted sum. </a:t>
            </a:r>
            <a:r>
              <a:rPr sz="1350" b="0" i="1">
                <a:solidFill>
                  <a:srgbClr val="00866C"/>
                </a:solidFill>
                <a:latin typeface="Times New Roman"/>
                <a:cs typeface="Times New Roman"/>
              </a:rPr>
              <a:t>(Hint: φ(u)=u turns the neuron into multiple linear regression, </a:t>
            </a:r>
            <a:r>
              <a:rPr sz="1350" b="1" i="1">
                <a:solidFill>
                  <a:srgbClr val="00866C"/>
                </a:solidFill>
                <a:latin typeface="Times New Roman"/>
                <a:cs typeface="Times New Roman"/>
              </a:rPr>
              <a:t>ŷ</a:t>
            </a:r>
            <a:r>
              <a:rPr sz="1350" b="0" i="1">
                <a:solidFill>
                  <a:srgbClr val="00866C"/>
                </a:solidFill>
                <a:latin typeface="Times New Roman"/>
                <a:cs typeface="Times New Roman"/>
              </a:rPr>
              <a:t>=</a:t>
            </a:r>
            <a:r>
              <a:rPr sz="1350" b="1" i="1">
                <a:solidFill>
                  <a:srgbClr val="00866C"/>
                </a:solidFill>
                <a:latin typeface="Times New Roman"/>
                <a:cs typeface="Times New Roman"/>
              </a:rPr>
              <a:t>β</a:t>
            </a:r>
            <a:r>
              <a:rPr sz="1350" b="0" i="1">
                <a:solidFill>
                  <a:srgbClr val="00866C"/>
                </a:solidFill>
                <a:latin typeface="Times New Roman"/>
                <a:cs typeface="Times New Roman"/>
              </a:rPr>
              <a:t>·</a:t>
            </a:r>
            <a:r>
              <a:rPr sz="1350" b="1" i="1">
                <a:solidFill>
                  <a:srgbClr val="00866C"/>
                </a:solidFill>
                <a:latin typeface="Times New Roman"/>
                <a:cs typeface="Times New Roman"/>
              </a:rPr>
              <a:t>x</a:t>
            </a:r>
            <a:r>
              <a:rPr sz="1350" b="0" i="1">
                <a:solidFill>
                  <a:srgbClr val="00866C"/>
                </a:solidFill>
                <a:latin typeface="Times New Roman"/>
                <a:cs typeface="Times New Roman"/>
              </a:rPr>
              <a:t>+β</a:t>
            </a:r>
            <a:r>
              <a:rPr sz="940" b="0" i="1" baseline="-25000">
                <a:solidFill>
                  <a:srgbClr val="00866C"/>
                </a:solidFill>
                <a:latin typeface="Times New Roman"/>
                <a:cs typeface="Times New Roman"/>
              </a:rPr>
              <a:t>0</a:t>
            </a:r>
            <a:r>
              <a:rPr sz="1350" b="0" i="1">
                <a:solidFill>
                  <a:srgbClr val="00866C"/>
                </a:solidFill>
                <a:latin typeface="Times New Roman"/>
                <a:cs typeface="Times New Roman"/>
              </a:rPr>
              <a:t> — a model you already fit by least squares.)</a:t>
            </a:r>
          </a:p>
          <a:p>
            <a:pPr algn="l" marL="234543" indent="-234543">
              <a:spcBef>
                <a:spcPts val="300"/>
              </a:spcBef>
              <a:spcAft>
                <a:spcPts val="400"/>
              </a:spcAft>
            </a:pP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❖ The activation is what stacking buys: compositions of purely affine maps collapse to a single affine map, so every layer after the first would be wasted without </a:t>
            </a:r>
            <a:r>
              <a:rPr sz="1350" b="0" i="1">
                <a:solidFill>
                  <a:srgbClr val="000000"/>
                </a:solidFill>
                <a:latin typeface="Times New Roman"/>
                <a:cs typeface="Times New Roman"/>
              </a:rPr>
              <a:t>φ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. </a:t>
            </a:r>
            <a:r>
              <a:rPr sz="1350" b="0" i="1">
                <a:solidFill>
                  <a:srgbClr val="00866C"/>
                </a:solidFill>
                <a:latin typeface="Times New Roman"/>
                <a:cs typeface="Times New Roman"/>
              </a:rPr>
              <a:t>(One-line proof in Supplement §S10.)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8835" y="4117085"/>
          <a:ext cx="6903720" cy="128016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914400"/>
                <a:gridCol w="2788920"/>
                <a:gridCol w="960120"/>
                <a:gridCol w="224028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equation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range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where it is used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Sigmoid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σ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00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) = 1 / (1 + </a:t>
                      </a:r>
                      <a:r>
                        <a:rPr sz="1000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700" b="0" i="1" baseline="30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−u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(0, 1)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binary gates; the historical default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Tanh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tanh(</a:t>
                      </a:r>
                      <a:r>
                        <a:rPr sz="1000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) = (</a:t>
                      </a:r>
                      <a:r>
                        <a:rPr sz="1000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700" b="0" i="1" baseline="30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− </a:t>
                      </a:r>
                      <a:r>
                        <a:rPr sz="1000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700" b="0" i="1" baseline="30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−u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) / (</a:t>
                      </a:r>
                      <a:r>
                        <a:rPr sz="1000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700" b="0" i="1" baseline="30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+ </a:t>
                      </a:r>
                      <a:r>
                        <a:rPr sz="1000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700" b="0" i="1" baseline="30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−u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(−1, 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the live-demo lab's hidden layers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ReLU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ReLU(</a:t>
                      </a:r>
                      <a:r>
                        <a:rPr sz="1000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) = max(0, </a:t>
                      </a:r>
                      <a:r>
                        <a:rPr sz="1000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[0, ∞)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deep networks since ~2012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GELU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GELU(</a:t>
                      </a:r>
                      <a:r>
                        <a:rPr sz="1000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) = </a:t>
                      </a:r>
                      <a:r>
                        <a:rPr sz="1000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 Φ(</a:t>
                      </a:r>
                      <a:r>
                        <a:rPr sz="1000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), Φ = standard normal CDF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≈(−0.17, ∞)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the feed-forward blocks of GPT-class LLMs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7818120" y="4117085"/>
            <a:ext cx="3666744" cy="1789938"/>
          </a:xfrm>
          <a:prstGeom prst="rect">
            <a:avLst/>
          </a:prstGeom>
          <a:solidFill>
            <a:srgbClr val="F2F2F2"/>
          </a:solidFill>
          <a:ln w="9525">
            <a:solidFill>
              <a:srgbClr val="B8B8B8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sz="950" b="0" i="1">
                <a:solidFill>
                  <a:srgbClr val="606060"/>
                </a:solidFill>
                <a:latin typeface="Times New Roman"/>
                <a:cs typeface="Times New Roman"/>
              </a:rPr>
              <a:t>[4-panel mini-plot: sigmoid, tanh, ReLU, GELU over u ∈ [−4, 4], one curve each, the equation under each panel]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598017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" name="Picture 2" descr="logo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0"/>
            <a:ext cx="711403" cy="5980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6112" y="27432"/>
            <a:ext cx="6400800" cy="543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2400" b="1" i="0">
                <a:solidFill>
                  <a:srgbClr val="FFF9D9"/>
                </a:solidFill>
                <a:latin typeface="Times New Roman"/>
                <a:cs typeface="Times New Roman"/>
              </a:rPr>
              <a:t>Chapter 1: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"/>
            <a:ext cx="1234440" cy="543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2000" b="0" i="0">
                <a:solidFill>
                  <a:srgbClr val="F6BE00"/>
                </a:solidFill>
                <a:latin typeface="Times New Roman"/>
                <a:cs typeface="Times New Roman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9691" y="566928"/>
            <a:ext cx="10747857" cy="95097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4000" b="0" i="0">
                <a:solidFill>
                  <a:srgbClr val="000000"/>
                </a:solidFill>
                <a:latin typeface="Times New Roman"/>
                <a:cs typeface="Times New Roman"/>
              </a:rPr>
              <a:t>Neural Network: Layers, Width, Depth</a:t>
            </a:r>
          </a:p>
        </p:txBody>
      </p:sp>
      <p:sp>
        <p:nvSpPr>
          <p:cNvPr id="7" name="Rectangle 6"/>
          <p:cNvSpPr/>
          <p:nvPr/>
        </p:nvSpPr>
        <p:spPr>
          <a:xfrm>
            <a:off x="738835" y="1687982"/>
            <a:ext cx="10747857" cy="19050"/>
          </a:xfrm>
          <a:prstGeom prst="rect">
            <a:avLst/>
          </a:prstGeom>
          <a:solidFill>
            <a:srgbClr val="960C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footer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" y="5943600"/>
            <a:ext cx="11048695" cy="8887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8835" y="1819656"/>
            <a:ext cx="1074785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000000"/>
                </a:solidFill>
                <a:latin typeface="Times New Roman"/>
                <a:cs typeface="Times New Roman"/>
              </a:rPr>
              <a:t>Neurons in parallel form a layer; layers in series form the network.</a:t>
            </a:r>
          </a:p>
        </p:txBody>
      </p:sp>
      <p:pic>
        <p:nvPicPr>
          <p:cNvPr id="10" name="Picture 9" descr="s15_layers_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4556" y="2212848"/>
            <a:ext cx="4562856" cy="25374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8835" y="2631186"/>
            <a:ext cx="10747857" cy="32758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7977" indent="-277977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❑ </a:t>
            </a:r>
            <a:r>
              <a:rPr sz="1600" b="1" i="0">
                <a:solidFill>
                  <a:srgbClr val="960C22"/>
                </a:solidFill>
                <a:latin typeface="Times New Roman"/>
                <a:cs typeface="Times New Roman"/>
              </a:rPr>
              <a:t>Hidden State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sz="1600" b="1" i="1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  <a:r>
              <a:rPr sz="1120" b="1" i="1" baseline="30000">
                <a:solidFill>
                  <a:srgbClr val="000000"/>
                </a:solidFill>
                <a:latin typeface="Times New Roman"/>
                <a:cs typeface="Times New Roman"/>
              </a:rPr>
              <a:t>(ℓ)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: the vector of all neuron outputs at layer </a:t>
            </a:r>
            <a:r>
              <a:rPr sz="1600" b="0" i="1">
                <a:solidFill>
                  <a:srgbClr val="000000"/>
                </a:solidFill>
                <a:latin typeface="Times New Roman"/>
                <a:cs typeface="Times New Roman"/>
              </a:rPr>
              <a:t>ℓ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. Row </a:t>
            </a:r>
            <a:r>
              <a:rPr sz="1600" b="0" i="1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 of </a:t>
            </a:r>
            <a:r>
              <a:rPr sz="1600" b="0" i="1">
                <a:solidFill>
                  <a:srgbClr val="000000"/>
                </a:solidFill>
                <a:latin typeface="Times New Roman"/>
                <a:cs typeface="Times New Roman"/>
              </a:rPr>
              <a:t>W</a:t>
            </a:r>
            <a:r>
              <a:rPr sz="1120" b="0" i="1" baseline="30000">
                <a:solidFill>
                  <a:srgbClr val="000000"/>
                </a:solidFill>
                <a:latin typeface="Times New Roman"/>
                <a:cs typeface="Times New Roman"/>
              </a:rPr>
              <a:t>(ℓ)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 holds the weights of neuron </a:t>
            </a:r>
            <a:r>
              <a:rPr sz="1600" b="0" i="1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</a:p>
          <a:p>
            <a:pPr algn="l" marL="277977" indent="-277977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❑ </a:t>
            </a:r>
            <a:r>
              <a:rPr sz="1600" b="1" i="0">
                <a:solidFill>
                  <a:srgbClr val="960C22"/>
                </a:solidFill>
                <a:latin typeface="Times New Roman"/>
                <a:cs typeface="Times New Roman"/>
              </a:rPr>
              <a:t>Width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: the length of </a:t>
            </a:r>
            <a:r>
              <a:rPr sz="1600" b="1" i="1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  <a:r>
              <a:rPr sz="1120" b="1" i="1" baseline="30000">
                <a:solidFill>
                  <a:srgbClr val="000000"/>
                </a:solidFill>
                <a:latin typeface="Times New Roman"/>
                <a:cs typeface="Times New Roman"/>
              </a:rPr>
              <a:t>(ℓ)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</a:p>
          <a:p>
            <a:pPr algn="l" marL="277977" indent="-277977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❑ </a:t>
            </a:r>
            <a:r>
              <a:rPr sz="1600" b="1" i="0">
                <a:solidFill>
                  <a:srgbClr val="960C22"/>
                </a:solidFill>
                <a:latin typeface="Times New Roman"/>
                <a:cs typeface="Times New Roman"/>
              </a:rPr>
              <a:t>Depth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: </a:t>
            </a:r>
            <a:r>
              <a:rPr sz="1600" b="0" i="1">
                <a:solidFill>
                  <a:srgbClr val="000000"/>
                </a:solidFill>
                <a:latin typeface="Times New Roman"/>
                <a:cs typeface="Times New Roman"/>
              </a:rPr>
              <a:t>L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</a:p>
          <a:p>
            <a:pPr algn="l" marL="277977" indent="-277977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❑ </a:t>
            </a:r>
            <a:r>
              <a:rPr sz="1600" b="1" i="0">
                <a:solidFill>
                  <a:srgbClr val="960C22"/>
                </a:solidFill>
                <a:latin typeface="Times New Roman"/>
                <a:cs typeface="Times New Roman"/>
              </a:rPr>
              <a:t>Parameter count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: |</a:t>
            </a:r>
            <a:r>
              <a:rPr sz="1600" b="0" i="1">
                <a:solidFill>
                  <a:srgbClr val="000000"/>
                </a:solidFill>
                <a:latin typeface="Times New Roman"/>
                <a:cs typeface="Times New Roman"/>
              </a:rPr>
              <a:t>θ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| = Σ</a:t>
            </a:r>
            <a:r>
              <a:rPr sz="1120" b="0" i="1" baseline="-25000">
                <a:solidFill>
                  <a:srgbClr val="000000"/>
                </a:solidFill>
                <a:latin typeface="Times New Roman"/>
                <a:cs typeface="Times New Roman"/>
              </a:rPr>
              <a:t>ℓ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b="0" i="1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  <a:r>
              <a:rPr sz="1120" b="0" i="1" baseline="-25000">
                <a:solidFill>
                  <a:srgbClr val="000000"/>
                </a:solidFill>
                <a:latin typeface="Times New Roman"/>
                <a:cs typeface="Times New Roman"/>
              </a:rPr>
              <a:t>ℓ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 (</a:t>
            </a:r>
            <a:r>
              <a:rPr sz="1600" b="0" i="1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  <a:r>
              <a:rPr sz="1120" b="0" i="1" baseline="-25000">
                <a:solidFill>
                  <a:srgbClr val="000000"/>
                </a:solidFill>
                <a:latin typeface="Times New Roman"/>
                <a:cs typeface="Times New Roman"/>
              </a:rPr>
              <a:t>ℓ−1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 + 1) — every weight plus every bias. </a:t>
            </a:r>
            <a:r>
              <a:rPr sz="1600" b="0" i="1">
                <a:solidFill>
                  <a:srgbClr val="00866C"/>
                </a:solidFill>
                <a:latin typeface="Times New Roman"/>
                <a:cs typeface="Times New Roman"/>
              </a:rPr>
              <a:t>(Hint: this is the "7B" / "32B" in a model's name, counted the same way.)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b="0" i="1">
                <a:solidFill>
                  <a:srgbClr val="00866C"/>
                </a:solidFill>
                <a:latin typeface="Times New Roman"/>
                <a:cs typeface="Times New Roman"/>
              </a:rPr>
              <a:t>(Slide 6 called the parameters "weights"; the count includes the biases, which are parameters on the same footing.)</a:t>
            </a:r>
          </a:p>
          <a:p>
            <a:pPr algn="l" marL="277977" indent="-277977">
              <a:spcBef>
                <a:spcPts val="500"/>
              </a:spcBef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❖ </a:t>
            </a:r>
            <a:r>
              <a:rPr sz="1600" b="1" i="0">
                <a:solidFill>
                  <a:srgbClr val="000000"/>
                </a:solidFill>
                <a:latin typeface="Times New Roman"/>
                <a:cs typeface="Times New Roman"/>
              </a:rPr>
              <a:t>Universal approximation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 (Cybenko, 1989; Hornik, 1991): one hidden layer of sufficient width can approximate any continuous function on a bounded domain to any tolerance. Existence is guaranteed; the theorem is silent on how many units, and on whether training finds the weights.</a:t>
            </a:r>
          </a:p>
          <a:p>
            <a:pPr algn="l" marL="277977" indent="-277977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❖ Depth composes features — layer </a:t>
            </a:r>
            <a:r>
              <a:rPr sz="1600" b="0" i="1">
                <a:solidFill>
                  <a:srgbClr val="000000"/>
                </a:solidFill>
                <a:latin typeface="Times New Roman"/>
                <a:cs typeface="Times New Roman"/>
              </a:rPr>
              <a:t>ℓ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 operates on what layer </a:t>
            </a:r>
            <a:r>
              <a:rPr sz="1600" b="0" i="1">
                <a:solidFill>
                  <a:srgbClr val="000000"/>
                </a:solidFill>
                <a:latin typeface="Times New Roman"/>
                <a:cs typeface="Times New Roman"/>
              </a:rPr>
              <a:t>ℓ−1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 already extracted. </a:t>
            </a:r>
            <a:r>
              <a:rPr sz="1600" b="0" i="1">
                <a:solidFill>
                  <a:srgbClr val="00866C"/>
                </a:solidFill>
                <a:latin typeface="Times New Roman"/>
                <a:cs typeface="Times New Roman"/>
              </a:rPr>
              <a:t>(Hint: the live demo runs a width × depth grid — 8/32/128 against 0/1/2/3 — and reports held-out accuracy in every cell. Hold this question for the lab.)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598017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" name="Picture 2" descr="logo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0"/>
            <a:ext cx="711403" cy="5980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6112" y="27432"/>
            <a:ext cx="6400800" cy="543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2400" b="1" i="0">
                <a:solidFill>
                  <a:srgbClr val="FFF9D9"/>
                </a:solidFill>
                <a:latin typeface="Times New Roman"/>
                <a:cs typeface="Times New Roman"/>
              </a:rPr>
              <a:t>Chapter 1: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"/>
            <a:ext cx="1234440" cy="543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2000" b="0" i="0">
                <a:solidFill>
                  <a:srgbClr val="F6BE00"/>
                </a:solidFill>
                <a:latin typeface="Times New Roman"/>
                <a:cs typeface="Times New Roman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9691" y="566928"/>
            <a:ext cx="10747857" cy="95097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3700" b="0" i="0">
                <a:solidFill>
                  <a:srgbClr val="000000"/>
                </a:solidFill>
                <a:latin typeface="Times New Roman"/>
                <a:cs typeface="Times New Roman"/>
              </a:rPr>
              <a:t>Neural Network: Embeddings (Tokens Become Vectors)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8835" y="1687982"/>
            <a:ext cx="10747857" cy="19050"/>
          </a:xfrm>
          <a:prstGeom prst="rect">
            <a:avLst/>
          </a:prstGeom>
          <a:solidFill>
            <a:srgbClr val="960C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footer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" y="5943600"/>
            <a:ext cx="11048695" cy="8887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8835" y="1819656"/>
            <a:ext cx="1074785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000000"/>
                </a:solidFill>
                <a:latin typeface="Times New Roman"/>
                <a:cs typeface="Times New Roman"/>
              </a:rPr>
              <a:t>The tokenizer (slides 8–9) delivers integers. The network needs vectors. One matrix converts.</a:t>
            </a:r>
          </a:p>
        </p:txBody>
      </p:sp>
      <p:pic>
        <p:nvPicPr>
          <p:cNvPr id="10" name="Picture 9" descr="s16_embed_row_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377" y="2212848"/>
            <a:ext cx="2855214" cy="240030"/>
          </a:xfrm>
          <a:prstGeom prst="rect">
            <a:avLst/>
          </a:prstGeom>
        </p:spPr>
      </p:pic>
      <p:pic>
        <p:nvPicPr>
          <p:cNvPr id="11" name="Picture 10" descr="s16_embed_pos_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973" y="2544318"/>
            <a:ext cx="2462022" cy="2834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8835" y="3010662"/>
            <a:ext cx="10747857" cy="28963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7977" indent="-277977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❑ </a:t>
            </a:r>
            <a:r>
              <a:rPr sz="1600" b="1" i="0">
                <a:solidFill>
                  <a:srgbClr val="960C22"/>
                </a:solidFill>
                <a:latin typeface="Times New Roman"/>
                <a:cs typeface="Times New Roman"/>
              </a:rPr>
              <a:t>Embedding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sz="1600" b="1" i="1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  <a:r>
              <a:rPr sz="1120" b="1" i="1" baseline="-25000">
                <a:solidFill>
                  <a:srgbClr val="000000"/>
                </a:solidFill>
                <a:latin typeface="Times New Roman"/>
                <a:cs typeface="Times New Roman"/>
              </a:rPr>
              <a:t>v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: the vector standing for token </a:t>
            </a:r>
            <a:r>
              <a:rPr sz="1600" b="0" i="1">
                <a:solidFill>
                  <a:srgbClr val="000000"/>
                </a:solidFill>
                <a:latin typeface="Times New Roman"/>
                <a:cs typeface="Times New Roman"/>
              </a:rPr>
              <a:t>v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 everywhere inside the network. Length </a:t>
            </a:r>
            <a:r>
              <a:rPr sz="1600" b="0" i="1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  <a:r>
              <a:rPr sz="1120" b="0" i="1" baseline="-25000">
                <a:solidFill>
                  <a:srgbClr val="000000"/>
                </a:solidFill>
                <a:latin typeface="Times New Roman"/>
                <a:cs typeface="Times New Roman"/>
              </a:rPr>
              <a:t>model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 (thousands, in frontier models). </a:t>
            </a:r>
            <a:r>
              <a:rPr sz="1600" b="0" i="1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 contributes |</a:t>
            </a:r>
            <a:r>
              <a:rPr sz="1600" b="0" i="0">
                <a:solidFill>
                  <a:srgbClr val="000000"/>
                </a:solidFill>
                <a:latin typeface="Cambria Math"/>
                <a:cs typeface="Cambria Math"/>
              </a:rPr>
              <a:t>𝒱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|·</a:t>
            </a:r>
            <a:r>
              <a:rPr sz="1600" b="0" i="1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  <a:r>
              <a:rPr sz="1120" b="0" i="1" baseline="-25000">
                <a:solidFill>
                  <a:srgbClr val="000000"/>
                </a:solidFill>
                <a:latin typeface="Times New Roman"/>
                <a:cs typeface="Times New Roman"/>
              </a:rPr>
              <a:t>model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 parameters — set in training like every other weight.</a:t>
            </a:r>
          </a:p>
          <a:p>
            <a:pPr algn="l" marL="277977" indent="-277977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❑ </a:t>
            </a:r>
            <a:r>
              <a:rPr sz="1600" b="1" i="0">
                <a:solidFill>
                  <a:srgbClr val="960C22"/>
                </a:solidFill>
                <a:latin typeface="Times New Roman"/>
                <a:cs typeface="Times New Roman"/>
              </a:rPr>
              <a:t>Token ID → row index.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 The ID from slide 9 does exactly one job: it selects a row of </a:t>
            </a:r>
            <a:r>
              <a:rPr sz="1600" b="0" i="1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</a:p>
          <a:p>
            <a:pPr algn="l" marL="277977" indent="-277977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❑ </a:t>
            </a:r>
            <a:r>
              <a:rPr sz="1600" b="1" i="0">
                <a:solidFill>
                  <a:srgbClr val="960C22"/>
                </a:solidFill>
                <a:latin typeface="Times New Roman"/>
                <a:cs typeface="Times New Roman"/>
              </a:rPr>
              <a:t>Positional Encoding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sz="1600" b="1" i="1">
                <a:solidFill>
                  <a:srgbClr val="000000"/>
                </a:solidFill>
                <a:latin typeface="Times New Roman"/>
                <a:cs typeface="Times New Roman"/>
              </a:rPr>
              <a:t>p</a:t>
            </a:r>
            <a:r>
              <a:rPr sz="1120" b="1" i="1" baseline="-2500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: a vector encoding position </a:t>
            </a:r>
            <a:r>
              <a:rPr sz="1600" b="0" i="1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, added so that the same token at different positions enters the network differently. </a:t>
            </a:r>
            <a:r>
              <a:rPr sz="1600" b="0" i="1">
                <a:solidFill>
                  <a:srgbClr val="00866C"/>
                </a:solidFill>
                <a:latin typeface="Times New Roman"/>
                <a:cs typeface="Times New Roman"/>
              </a:rPr>
              <a:t>(Hint: without </a:t>
            </a:r>
            <a:r>
              <a:rPr sz="1600" b="1" i="1">
                <a:solidFill>
                  <a:srgbClr val="00866C"/>
                </a:solidFill>
                <a:latin typeface="Times New Roman"/>
                <a:cs typeface="Times New Roman"/>
              </a:rPr>
              <a:t>p</a:t>
            </a:r>
            <a:r>
              <a:rPr sz="1600" b="0" i="1">
                <a:solidFill>
                  <a:srgbClr val="00866C"/>
                </a:solidFill>
                <a:latin typeface="Times New Roman"/>
                <a:cs typeface="Times New Roman"/>
              </a:rPr>
              <a:t>, "load causes deflection" and "deflection causes load" would present the network identical input sets.)</a:t>
            </a:r>
          </a:p>
          <a:p>
            <a:pPr algn="l" marL="277977" indent="-277977">
              <a:spcBef>
                <a:spcPts val="500"/>
              </a:spcBef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❖ Proximity in embedding space is learned from co-occurrence: tokens used in similar contexts acquire nearby vectors. This is why the network can treat 'beam' and 'girder' similarly without a rule saying 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598017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" name="Picture 2" descr="logo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0"/>
            <a:ext cx="711403" cy="5980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6112" y="27432"/>
            <a:ext cx="6400800" cy="543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2400" b="1" i="0">
                <a:solidFill>
                  <a:srgbClr val="FFF9D9"/>
                </a:solidFill>
                <a:latin typeface="Times New Roman"/>
                <a:cs typeface="Times New Roman"/>
              </a:rPr>
              <a:t>Chapter 1: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"/>
            <a:ext cx="1234440" cy="543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2000" b="0" i="0">
                <a:solidFill>
                  <a:srgbClr val="F6BE00"/>
                </a:solidFill>
                <a:latin typeface="Times New Roman"/>
                <a:cs typeface="Times New Roman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9691" y="566928"/>
            <a:ext cx="10747857" cy="95097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3700" b="0" i="0">
                <a:solidFill>
                  <a:srgbClr val="000000"/>
                </a:solidFill>
                <a:latin typeface="Times New Roman"/>
                <a:cs typeface="Times New Roman"/>
              </a:rPr>
              <a:t>Neural Network: The Transformer Decoder (T-Decoder)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8835" y="1687982"/>
            <a:ext cx="10747857" cy="19050"/>
          </a:xfrm>
          <a:prstGeom prst="rect">
            <a:avLst/>
          </a:prstGeom>
          <a:solidFill>
            <a:srgbClr val="960C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footer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" y="5943600"/>
            <a:ext cx="11048695" cy="8887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8835" y="1819656"/>
            <a:ext cx="1074785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000000"/>
                </a:solidFill>
                <a:latin typeface="Times New Roman"/>
                <a:cs typeface="Times New Roman"/>
              </a:rPr>
              <a:t>One architecture turned next-token prediction into a working technology: the </a:t>
            </a:r>
            <a:r>
              <a:rPr sz="1350" b="1" i="1">
                <a:solidFill>
                  <a:srgbClr val="000000"/>
                </a:solidFill>
                <a:latin typeface="Times New Roman"/>
                <a:cs typeface="Times New Roman"/>
              </a:rPr>
              <a:t>Transformer</a:t>
            </a:r>
            <a:r>
              <a:rPr sz="1350" b="0" i="1">
                <a:solidFill>
                  <a:srgbClr val="000000"/>
                </a:solidFill>
                <a:latin typeface="Times New Roman"/>
                <a:cs typeface="Times New Roman"/>
              </a:rPr>
              <a:t> (Vaswani et al., 2017). LLMs use its decoder stack.</a:t>
            </a:r>
          </a:p>
        </p:txBody>
      </p:sp>
      <p:pic>
        <p:nvPicPr>
          <p:cNvPr id="10" name="Picture 9" descr="s17_attention_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1923" y="2194560"/>
            <a:ext cx="5548122" cy="39090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8835" y="2640329"/>
            <a:ext cx="10747857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00000"/>
                </a:solidFill>
                <a:latin typeface="Times New Roman"/>
                <a:cs typeface="Times New Roman"/>
              </a:rPr>
              <a:t>Rows of </a:t>
            </a:r>
            <a:r>
              <a:rPr sz="1150" b="0" i="1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  <a:r>
              <a:rPr sz="1150" b="0" i="0">
                <a:solidFill>
                  <a:srgbClr val="000000"/>
                </a:solidFill>
                <a:latin typeface="Times New Roman"/>
                <a:cs typeface="Times New Roman"/>
              </a:rPr>
              <a:t> are the </a:t>
            </a:r>
            <a:r>
              <a:rPr sz="1150" b="0" i="1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r>
              <a:rPr sz="1150" b="0" i="0">
                <a:solidFill>
                  <a:srgbClr val="000000"/>
                </a:solidFill>
                <a:latin typeface="Times New Roman"/>
                <a:cs typeface="Times New Roman"/>
              </a:rPr>
              <a:t> hidden states entering this block — the transpose of slide 15's column form, which is how attention is written throughout. </a:t>
            </a:r>
            <a:r>
              <a:rPr sz="1150" b="0" i="1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  <a:r>
              <a:rPr sz="800" b="0" i="1" baseline="-25000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r>
              <a:rPr sz="1150" b="0" i="0">
                <a:solidFill>
                  <a:srgbClr val="000000"/>
                </a:solidFill>
                <a:latin typeface="Times New Roman"/>
                <a:cs typeface="Times New Roman"/>
              </a:rPr>
              <a:t> is the head's width.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" y="2943606"/>
            <a:ext cx="7589520" cy="29634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8483" indent="-208483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❑ </a:t>
            </a:r>
            <a:r>
              <a:rPr sz="1200" b="1" i="0">
                <a:solidFill>
                  <a:srgbClr val="960C22"/>
                </a:solidFill>
                <a:latin typeface="Times New Roman"/>
                <a:cs typeface="Times New Roman"/>
              </a:rPr>
              <a:t>Self-Attention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: every position scores every earlier position for relevance and takes the weighted average of what they carry. The row-wise softmax is what makes those weights a weighted average: positive, summing to one (defined on slide 18). Row </a:t>
            </a:r>
            <a:r>
              <a:rPr sz="1200" b="0" i="1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of </a:t>
            </a:r>
            <a:r>
              <a:rPr sz="1200" b="0" i="1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asks; row </a:t>
            </a:r>
            <a:r>
              <a:rPr sz="1200" b="0" i="1">
                <a:solidFill>
                  <a:srgbClr val="000000"/>
                </a:solidFill>
                <a:latin typeface="Times New Roman"/>
                <a:cs typeface="Times New Roman"/>
              </a:rPr>
              <a:t>j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of </a:t>
            </a:r>
            <a:r>
              <a:rPr sz="1200" b="0" i="1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answers; row </a:t>
            </a:r>
            <a:r>
              <a:rPr sz="1200" b="0" i="1">
                <a:solidFill>
                  <a:srgbClr val="000000"/>
                </a:solidFill>
                <a:latin typeface="Times New Roman"/>
                <a:cs typeface="Times New Roman"/>
              </a:rPr>
              <a:t>j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of </a:t>
            </a:r>
            <a:r>
              <a:rPr sz="1200" b="0" i="1">
                <a:solidFill>
                  <a:srgbClr val="000000"/>
                </a:solidFill>
                <a:latin typeface="Times New Roman"/>
                <a:cs typeface="Times New Roman"/>
              </a:rPr>
              <a:t>V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is what position </a:t>
            </a:r>
            <a:r>
              <a:rPr sz="1200" b="0" i="1">
                <a:solidFill>
                  <a:srgbClr val="000000"/>
                </a:solidFill>
                <a:latin typeface="Times New Roman"/>
                <a:cs typeface="Times New Roman"/>
              </a:rPr>
              <a:t>j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contributes if selected. </a:t>
            </a:r>
            <a:r>
              <a:rPr sz="1200" b="0" i="1">
                <a:solidFill>
                  <a:srgbClr val="00866C"/>
                </a:solidFill>
                <a:latin typeface="Times New Roman"/>
                <a:cs typeface="Times New Roman"/>
              </a:rPr>
              <a:t>(Hint: </a:t>
            </a:r>
            <a:r>
              <a:rPr sz="1200" b="1" i="1">
                <a:solidFill>
                  <a:srgbClr val="00866C"/>
                </a:solidFill>
                <a:latin typeface="Times New Roman"/>
                <a:cs typeface="Times New Roman"/>
              </a:rPr>
              <a:t>V</a:t>
            </a:r>
            <a:r>
              <a:rPr sz="1200" b="0" i="1">
                <a:solidFill>
                  <a:srgbClr val="00866C"/>
                </a:solidFill>
                <a:latin typeface="Times New Roman"/>
                <a:cs typeface="Times New Roman"/>
              </a:rPr>
              <a:t> here is the attention value matrix. The vocabulary keeps the deck's script symbol </a:t>
            </a:r>
            <a:r>
              <a:rPr sz="1200" b="0" i="0">
                <a:solidFill>
                  <a:srgbClr val="00866C"/>
                </a:solidFill>
                <a:latin typeface="Cambria Math"/>
                <a:cs typeface="Cambria Math"/>
              </a:rPr>
              <a:t>𝒱</a:t>
            </a:r>
            <a:r>
              <a:rPr sz="1200" b="0" i="1">
                <a:solidFill>
                  <a:srgbClr val="00866C"/>
                </a:solidFill>
                <a:latin typeface="Times New Roman"/>
                <a:cs typeface="Times New Roman"/>
              </a:rPr>
              <a:t>.)</a:t>
            </a:r>
          </a:p>
          <a:p>
            <a:pPr algn="l" marL="208483" indent="-208483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❑ </a:t>
            </a:r>
            <a:r>
              <a:rPr sz="1200" b="1" i="0">
                <a:solidFill>
                  <a:srgbClr val="960C22"/>
                </a:solidFill>
                <a:latin typeface="Times New Roman"/>
                <a:cs typeface="Times New Roman"/>
              </a:rPr>
              <a:t>Causal Mask</a:t>
            </a:r>
            <a:r>
              <a:rPr sz="819" b="1" i="0" baseline="30000">
                <a:solidFill>
                  <a:srgbClr val="000000"/>
                </a:solidFill>
                <a:latin typeface="Times New Roman"/>
                <a:cs typeface="Times New Roman"/>
              </a:rPr>
              <a:t>(Autoregressive Constraint)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: position </a:t>
            </a:r>
            <a:r>
              <a:rPr sz="1200" b="0" i="1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may attend to positions </a:t>
            </a:r>
            <a:r>
              <a:rPr sz="1200" b="0" i="1">
                <a:solidFill>
                  <a:srgbClr val="000000"/>
                </a:solidFill>
                <a:latin typeface="Times New Roman"/>
                <a:cs typeface="Times New Roman"/>
              </a:rPr>
              <a:t>j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≤ </a:t>
            </a:r>
            <a:r>
              <a:rPr sz="1200" b="0" i="1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only. This is the structural form of slide 5's Inference definition — prediction uses the past, never the future.</a:t>
            </a:r>
          </a:p>
          <a:p>
            <a:pPr algn="l" marL="208483" indent="-208483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❑ </a:t>
            </a:r>
            <a:r>
              <a:rPr sz="1200" b="1" i="0">
                <a:solidFill>
                  <a:srgbClr val="960C22"/>
                </a:solidFill>
                <a:latin typeface="Times New Roman"/>
                <a:cs typeface="Times New Roman"/>
              </a:rPr>
              <a:t>Multi-Head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: </a:t>
            </a:r>
            <a:r>
              <a:rPr sz="1200" b="0" i="1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attention maps run in parallel with separate learned </a:t>
            </a:r>
            <a:r>
              <a:rPr sz="1200" b="0" i="1">
                <a:solidFill>
                  <a:srgbClr val="000000"/>
                </a:solidFill>
                <a:latin typeface="Times New Roman"/>
                <a:cs typeface="Times New Roman"/>
              </a:rPr>
              <a:t>W</a:t>
            </a:r>
            <a:r>
              <a:rPr sz="840" b="0" i="1" baseline="-25000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sz="1200" b="0" i="1">
                <a:solidFill>
                  <a:srgbClr val="000000"/>
                </a:solidFill>
                <a:latin typeface="Times New Roman"/>
                <a:cs typeface="Times New Roman"/>
              </a:rPr>
              <a:t>W</a:t>
            </a:r>
            <a:r>
              <a:rPr sz="840" b="0" i="1" baseline="-25000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sz="1200" b="0" i="1">
                <a:solidFill>
                  <a:srgbClr val="000000"/>
                </a:solidFill>
                <a:latin typeface="Times New Roman"/>
                <a:cs typeface="Times New Roman"/>
              </a:rPr>
              <a:t>W</a:t>
            </a:r>
            <a:r>
              <a:rPr sz="840" b="0" i="1" baseline="-25000">
                <a:solidFill>
                  <a:srgbClr val="000000"/>
                </a:solidFill>
                <a:latin typeface="Times New Roman"/>
                <a:cs typeface="Times New Roman"/>
              </a:rPr>
              <a:t>V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, then concatenate and reproject through </a:t>
            </a:r>
            <a:r>
              <a:rPr sz="1200" b="0" i="1">
                <a:solidFill>
                  <a:srgbClr val="000000"/>
                </a:solidFill>
                <a:latin typeface="Times New Roman"/>
                <a:cs typeface="Times New Roman"/>
              </a:rPr>
              <a:t>W</a:t>
            </a:r>
            <a:r>
              <a:rPr sz="840" b="0" i="1" baseline="-25000">
                <a:solidFill>
                  <a:srgbClr val="000000"/>
                </a:solidFill>
                <a:latin typeface="Times New Roman"/>
                <a:cs typeface="Times New Roman"/>
              </a:rPr>
              <a:t>O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back to </a:t>
            </a:r>
            <a:r>
              <a:rPr sz="1200" b="0" i="1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  <a:r>
              <a:rPr sz="840" b="0" i="1" baseline="-25000">
                <a:solidFill>
                  <a:srgbClr val="000000"/>
                </a:solidFill>
                <a:latin typeface="Times New Roman"/>
                <a:cs typeface="Times New Roman"/>
              </a:rPr>
              <a:t>model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(Supplement §S4). Each head is free to learn a different relation.</a:t>
            </a:r>
          </a:p>
          <a:p>
            <a:pPr algn="l" marL="208483" indent="-208483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❑ </a:t>
            </a:r>
            <a:r>
              <a:rPr sz="1200" b="1" i="0">
                <a:solidFill>
                  <a:srgbClr val="960C22"/>
                </a:solidFill>
                <a:latin typeface="Times New Roman"/>
                <a:cs typeface="Times New Roman"/>
              </a:rPr>
              <a:t>Feed-Forward Block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: the slide-15 network, width ≈ 4 </a:t>
            </a:r>
            <a:r>
              <a:rPr sz="1200" b="0" i="1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  <a:r>
              <a:rPr sz="840" b="0" i="1" baseline="-25000">
                <a:solidFill>
                  <a:srgbClr val="000000"/>
                </a:solidFill>
                <a:latin typeface="Times New Roman"/>
                <a:cs typeface="Times New Roman"/>
              </a:rPr>
              <a:t>model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, applied to each position separately. This is where GELU lives (slide 14).</a:t>
            </a:r>
          </a:p>
          <a:p>
            <a:pPr algn="l" marL="208483" indent="-208483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❑ </a:t>
            </a:r>
            <a:r>
              <a:rPr sz="1200" b="1" i="0">
                <a:solidFill>
                  <a:srgbClr val="960C22"/>
                </a:solidFill>
                <a:latin typeface="Times New Roman"/>
                <a:cs typeface="Times New Roman"/>
              </a:rPr>
              <a:t>Residual + LayerNorm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: each sub-layer's output is added to its input (</a:t>
            </a:r>
            <a:r>
              <a:rPr sz="1200" b="1" i="1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← </a:t>
            </a:r>
            <a:r>
              <a:rPr sz="1200" b="1" i="1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+ sublayer(LN(</a:t>
            </a:r>
            <a:r>
              <a:rPr sz="1200" b="1" i="1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))), and layer normalization rescales activations. Together they let </a:t>
            </a:r>
            <a:r>
              <a:rPr sz="1200" b="0" i="1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∼ 10</a:t>
            </a:r>
            <a:r>
              <a:rPr sz="840" b="0" i="0" baseline="3000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blocks train. </a:t>
            </a:r>
            <a:r>
              <a:rPr sz="1200" b="0" i="1">
                <a:solidFill>
                  <a:srgbClr val="00866C"/>
                </a:solidFill>
                <a:latin typeface="Times New Roman"/>
                <a:cs typeface="Times New Roman"/>
              </a:rPr>
              <a:t>(Equations: Supplement §S5.)</a:t>
            </a:r>
          </a:p>
          <a:p>
            <a:pPr algn="l" marL="208483" indent="-208483">
              <a:spcBef>
                <a:spcPts val="400"/>
              </a:spcBef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❖ </a:t>
            </a:r>
            <a:r>
              <a:rPr sz="1200" b="1" i="0">
                <a:solidFill>
                  <a:srgbClr val="000000"/>
                </a:solidFill>
                <a:latin typeface="Times New Roman"/>
                <a:cs typeface="Times New Roman"/>
              </a:rPr>
              <a:t>Cost closure: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the score matrix </a:t>
            </a:r>
            <a:r>
              <a:rPr sz="1200" b="0" i="1">
                <a:solidFill>
                  <a:srgbClr val="000000"/>
                </a:solidFill>
                <a:latin typeface="Times New Roman"/>
                <a:cs typeface="Times New Roman"/>
              </a:rPr>
              <a:t>QK</a:t>
            </a:r>
            <a:r>
              <a:rPr sz="840" b="0" i="1" baseline="30000">
                <a:solidFill>
                  <a:srgbClr val="000000"/>
                </a:solidFill>
                <a:latin typeface="Times New Roman"/>
                <a:cs typeface="Times New Roman"/>
              </a:rPr>
              <a:t>⊤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holds </a:t>
            </a:r>
            <a:r>
              <a:rPr sz="1200" b="0" i="1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× </a:t>
            </a:r>
            <a:r>
              <a:rPr sz="1200" b="0" i="1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entries — the </a:t>
            </a:r>
            <a:r>
              <a:rPr sz="1200" b="0" i="1">
                <a:solidFill>
                  <a:srgbClr val="000000"/>
                </a:solidFill>
                <a:latin typeface="Times New Roman"/>
                <a:cs typeface="Times New Roman"/>
              </a:rPr>
              <a:t>O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1200" b="0" i="1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r>
              <a:rPr sz="840" b="0" i="1" baseline="-25000">
                <a:solidFill>
                  <a:srgbClr val="000000"/>
                </a:solidFill>
                <a:latin typeface="Times New Roman"/>
                <a:cs typeface="Times New Roman"/>
              </a:rPr>
              <a:t>max</a:t>
            </a:r>
            <a:r>
              <a:rPr sz="840" b="0" i="1" baseline="3000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) context-window compute asserted on slide 5 is this matrix.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84387" y="2943606"/>
            <a:ext cx="2902305" cy="2963418"/>
          </a:xfrm>
          <a:prstGeom prst="rect">
            <a:avLst/>
          </a:prstGeom>
          <a:solidFill>
            <a:srgbClr val="F2F2F2"/>
          </a:solidFill>
          <a:ln w="9525">
            <a:solidFill>
              <a:srgbClr val="B8B8B8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sz="950" b="0" i="1">
                <a:solidFill>
                  <a:srgbClr val="606060"/>
                </a:solidFill>
                <a:latin typeface="Times New Roman"/>
                <a:cs typeface="Times New Roman"/>
              </a:rPr>
              <a:t>[block diagram: input → [LayerNorm → Masked Multi-Head Self-Attention → ⊕] → [LayerNorm → Feed-Forward → ⊕] → output, with a "× N" bracket around the whole block]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598017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" name="Picture 2" descr="logo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0"/>
            <a:ext cx="711403" cy="5980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6112" y="27432"/>
            <a:ext cx="6400800" cy="543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2400" b="1" i="0">
                <a:solidFill>
                  <a:srgbClr val="FFF9D9"/>
                </a:solidFill>
                <a:latin typeface="Times New Roman"/>
                <a:cs typeface="Times New Roman"/>
              </a:rPr>
              <a:t>Chapter 1: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"/>
            <a:ext cx="1234440" cy="543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2000" b="0" i="0">
                <a:solidFill>
                  <a:srgbClr val="F6BE00"/>
                </a:solidFill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9691" y="566928"/>
            <a:ext cx="10747857" cy="95097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4000" b="0" i="0">
                <a:solidFill>
                  <a:srgbClr val="000000"/>
                </a:solidFill>
                <a:latin typeface="Times New Roman"/>
                <a:cs typeface="Times New Roman"/>
              </a:rPr>
              <a:t>Neural Network: Logits, Softmax, Temperature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8835" y="1687982"/>
            <a:ext cx="10747857" cy="19050"/>
          </a:xfrm>
          <a:prstGeom prst="rect">
            <a:avLst/>
          </a:prstGeom>
          <a:solidFill>
            <a:srgbClr val="960C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footer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" y="5943600"/>
            <a:ext cx="11048695" cy="8887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8835" y="1819656"/>
            <a:ext cx="1074785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1">
                <a:solidFill>
                  <a:srgbClr val="000000"/>
                </a:solidFill>
                <a:latin typeface="Times New Roman"/>
                <a:cs typeface="Times New Roman"/>
              </a:rPr>
              <a:t>After N blocks and one final layer normalization, position </a:t>
            </a:r>
            <a:r>
              <a:rPr sz="1220" b="1" i="1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r>
              <a:rPr sz="1220" b="0" i="1">
                <a:solidFill>
                  <a:srgbClr val="000000"/>
                </a:solidFill>
                <a:latin typeface="Times New Roman"/>
                <a:cs typeface="Times New Roman"/>
              </a:rPr>
              <a:t> holds a vector </a:t>
            </a:r>
            <a:r>
              <a:rPr sz="1220" b="1" i="1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  <a:r>
              <a:rPr sz="860" b="1" i="1" baseline="-25000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r>
              <a:rPr sz="860" b="1" i="1" baseline="30000">
                <a:solidFill>
                  <a:srgbClr val="000000"/>
                </a:solidFill>
                <a:latin typeface="Times New Roman"/>
                <a:cs typeface="Times New Roman"/>
              </a:rPr>
              <a:t>(N)</a:t>
            </a:r>
            <a:r>
              <a:rPr sz="1220" b="0" i="1">
                <a:solidFill>
                  <a:srgbClr val="000000"/>
                </a:solidFill>
                <a:latin typeface="Times New Roman"/>
                <a:cs typeface="Times New Roman"/>
              </a:rPr>
              <a:t> summarizing the whole prompt. One last matrix converts it into scores over the vocabulary.</a:t>
            </a:r>
          </a:p>
        </p:txBody>
      </p:sp>
      <p:pic>
        <p:nvPicPr>
          <p:cNvPr id="10" name="Picture 9" descr="s18_logits_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973" y="2212848"/>
            <a:ext cx="2462022" cy="290322"/>
          </a:xfrm>
          <a:prstGeom prst="rect">
            <a:avLst/>
          </a:prstGeom>
        </p:spPr>
      </p:pic>
      <p:pic>
        <p:nvPicPr>
          <p:cNvPr id="11" name="Picture 10" descr="s18_softmax_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543" y="2594610"/>
            <a:ext cx="2484882" cy="50520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8835" y="3282696"/>
            <a:ext cx="10747857" cy="2624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7977" indent="-277977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❑ </a:t>
            </a:r>
            <a:r>
              <a:rPr sz="1600" b="1" i="0">
                <a:solidFill>
                  <a:srgbClr val="960C22"/>
                </a:solidFill>
                <a:latin typeface="Times New Roman"/>
                <a:cs typeface="Times New Roman"/>
              </a:rPr>
              <a:t>Logit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sz="1600" b="0" i="1">
                <a:solidFill>
                  <a:srgbClr val="000000"/>
                </a:solidFill>
                <a:latin typeface="Times New Roman"/>
                <a:cs typeface="Times New Roman"/>
              </a:rPr>
              <a:t>z</a:t>
            </a:r>
            <a:r>
              <a:rPr sz="1120" b="0" i="1" baseline="-25000">
                <a:solidFill>
                  <a:srgbClr val="000000"/>
                </a:solidFill>
                <a:latin typeface="Times New Roman"/>
                <a:cs typeface="Times New Roman"/>
              </a:rPr>
              <a:t>v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: the raw score for token </a:t>
            </a:r>
            <a:r>
              <a:rPr sz="1600" b="0" i="1">
                <a:solidFill>
                  <a:srgbClr val="000000"/>
                </a:solidFill>
                <a:latin typeface="Times New Roman"/>
                <a:cs typeface="Times New Roman"/>
              </a:rPr>
              <a:t>v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. One number per vocabulary entry, every step. </a:t>
            </a:r>
            <a:r>
              <a:rPr sz="1600" b="0" i="1">
                <a:solidFill>
                  <a:srgbClr val="00866C"/>
                </a:solidFill>
                <a:latin typeface="Times New Roman"/>
                <a:cs typeface="Times New Roman"/>
              </a:rPr>
              <a:t>(Hint: logits are what the model actually computes; probabilities are an interpretation layer on top.)</a:t>
            </a:r>
          </a:p>
          <a:p>
            <a:pPr algn="l" marL="277977" indent="-277977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❑ </a:t>
            </a:r>
            <a:r>
              <a:rPr sz="1600" b="1" i="0">
                <a:solidFill>
                  <a:srgbClr val="960C22"/>
                </a:solidFill>
                <a:latin typeface="Times New Roman"/>
                <a:cs typeface="Times New Roman"/>
              </a:rPr>
              <a:t>Unembedding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sz="1600" b="0" i="1">
                <a:solidFill>
                  <a:srgbClr val="000000"/>
                </a:solidFill>
                <a:latin typeface="Times New Roman"/>
                <a:cs typeface="Times New Roman"/>
              </a:rPr>
              <a:t>W</a:t>
            </a:r>
            <a:r>
              <a:rPr sz="1120" b="0" i="1" baseline="-25000">
                <a:solidFill>
                  <a:srgbClr val="000000"/>
                </a:solidFill>
                <a:latin typeface="Times New Roman"/>
                <a:cs typeface="Times New Roman"/>
              </a:rPr>
              <a:t>U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: the matrix mapping the final hidden state onto the vocabulary. </a:t>
            </a:r>
            <a:r>
              <a:rPr sz="1600" b="0" i="1">
                <a:solidFill>
                  <a:srgbClr val="00866C"/>
                </a:solidFill>
                <a:latin typeface="Times New Roman"/>
                <a:cs typeface="Times New Roman"/>
              </a:rPr>
              <a:t>(Hint: many models set </a:t>
            </a:r>
            <a:r>
              <a:rPr sz="1600" b="1" i="1">
                <a:solidFill>
                  <a:srgbClr val="00866C"/>
                </a:solidFill>
                <a:latin typeface="Times New Roman"/>
                <a:cs typeface="Times New Roman"/>
              </a:rPr>
              <a:t>W</a:t>
            </a:r>
            <a:r>
              <a:rPr sz="1120" b="0" i="1" baseline="-25000">
                <a:solidFill>
                  <a:srgbClr val="00866C"/>
                </a:solidFill>
                <a:latin typeface="Times New Roman"/>
                <a:cs typeface="Times New Roman"/>
              </a:rPr>
              <a:t>U</a:t>
            </a:r>
            <a:r>
              <a:rPr sz="1600" b="0" i="1">
                <a:solidFill>
                  <a:srgbClr val="00866C"/>
                </a:solidFill>
                <a:latin typeface="Times New Roman"/>
                <a:cs typeface="Times New Roman"/>
              </a:rPr>
              <a:t> = </a:t>
            </a:r>
            <a:r>
              <a:rPr sz="1600" b="1" i="1">
                <a:solidFill>
                  <a:srgbClr val="00866C"/>
                </a:solidFill>
                <a:latin typeface="Times New Roman"/>
                <a:cs typeface="Times New Roman"/>
              </a:rPr>
              <a:t>E</a:t>
            </a:r>
            <a:r>
              <a:rPr sz="1600" b="0" i="1">
                <a:solidFill>
                  <a:srgbClr val="00866C"/>
                </a:solidFill>
                <a:latin typeface="Times New Roman"/>
                <a:cs typeface="Times New Roman"/>
              </a:rPr>
              <a:t> — </a:t>
            </a:r>
            <a:r>
              <a:rPr sz="1600" b="1" i="1">
                <a:solidFill>
                  <a:srgbClr val="00866C"/>
                </a:solidFill>
                <a:latin typeface="Times New Roman"/>
                <a:cs typeface="Times New Roman"/>
              </a:rPr>
              <a:t>weight tying</a:t>
            </a:r>
            <a:r>
              <a:rPr sz="1600" b="0" i="1">
                <a:solidFill>
                  <a:srgbClr val="00866C"/>
                </a:solidFill>
                <a:latin typeface="Times New Roman"/>
                <a:cs typeface="Times New Roman"/>
              </a:rPr>
              <a:t>. Row </a:t>
            </a:r>
            <a:r>
              <a:rPr sz="1600" b="1" i="1">
                <a:solidFill>
                  <a:srgbClr val="00866C"/>
                </a:solidFill>
                <a:latin typeface="Times New Roman"/>
                <a:cs typeface="Times New Roman"/>
              </a:rPr>
              <a:t>v</a:t>
            </a:r>
            <a:r>
              <a:rPr sz="1600" b="0" i="1">
                <a:solidFill>
                  <a:srgbClr val="00866C"/>
                </a:solidFill>
                <a:latin typeface="Times New Roman"/>
                <a:cs typeface="Times New Roman"/>
              </a:rPr>
              <a:t> of </a:t>
            </a:r>
            <a:r>
              <a:rPr sz="1600" b="1" i="1">
                <a:solidFill>
                  <a:srgbClr val="00866C"/>
                </a:solidFill>
                <a:latin typeface="Times New Roman"/>
                <a:cs typeface="Times New Roman"/>
              </a:rPr>
              <a:t>E</a:t>
            </a:r>
            <a:r>
              <a:rPr sz="1600" b="0" i="1">
                <a:solidFill>
                  <a:srgbClr val="00866C"/>
                </a:solidFill>
                <a:latin typeface="Times New Roman"/>
                <a:cs typeface="Times New Roman"/>
              </a:rPr>
              <a:t> embeds token </a:t>
            </a:r>
            <a:r>
              <a:rPr sz="1600" b="1" i="1">
                <a:solidFill>
                  <a:srgbClr val="00866C"/>
                </a:solidFill>
                <a:latin typeface="Times New Roman"/>
                <a:cs typeface="Times New Roman"/>
              </a:rPr>
              <a:t>v</a:t>
            </a:r>
            <a:r>
              <a:rPr sz="1600" b="0" i="1">
                <a:solidFill>
                  <a:srgbClr val="00866C"/>
                </a:solidFill>
                <a:latin typeface="Times New Roman"/>
                <a:cs typeface="Times New Roman"/>
              </a:rPr>
              <a:t> on the way in and scores it on the way out: one lookup table, read in both directions.)</a:t>
            </a:r>
          </a:p>
          <a:p>
            <a:pPr algn="l" marL="277977" indent="-277977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❑ </a:t>
            </a:r>
            <a:r>
              <a:rPr sz="1600" b="1" i="0">
                <a:solidFill>
                  <a:srgbClr val="960C22"/>
                </a:solidFill>
                <a:latin typeface="Times New Roman"/>
                <a:cs typeface="Times New Roman"/>
              </a:rPr>
              <a:t>Softmax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: exponentiate, normalize. Preserves the ranking of </a:t>
            </a:r>
            <a:r>
              <a:rPr sz="1600" b="1" i="1">
                <a:solidFill>
                  <a:srgbClr val="000000"/>
                </a:solidFill>
                <a:latin typeface="Times New Roman"/>
                <a:cs typeface="Times New Roman"/>
              </a:rPr>
              <a:t>z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; guarantees </a:t>
            </a:r>
            <a:r>
              <a:rPr sz="1600" b="0" i="1">
                <a:solidFill>
                  <a:srgbClr val="000000"/>
                </a:solidFill>
                <a:latin typeface="Times New Roman"/>
                <a:cs typeface="Times New Roman"/>
              </a:rPr>
              <a:t>P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 &gt; 0 and Σ</a:t>
            </a:r>
            <a:r>
              <a:rPr sz="1120" b="0" i="1" baseline="-25000">
                <a:solidFill>
                  <a:srgbClr val="000000"/>
                </a:solidFill>
                <a:latin typeface="Times New Roman"/>
                <a:cs typeface="Times New Roman"/>
              </a:rPr>
              <a:t>v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b="0" i="1">
                <a:solidFill>
                  <a:srgbClr val="000000"/>
                </a:solidFill>
                <a:latin typeface="Times New Roman"/>
                <a:cs typeface="Times New Roman"/>
              </a:rPr>
              <a:t>P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 = 1.</a:t>
            </a:r>
          </a:p>
          <a:p>
            <a:pPr algn="l" marL="277977" indent="-277977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❑ </a:t>
            </a:r>
            <a:r>
              <a:rPr sz="1600" b="1" i="0">
                <a:solidFill>
                  <a:srgbClr val="960C22"/>
                </a:solidFill>
                <a:latin typeface="Times New Roman"/>
                <a:cs typeface="Times New Roman"/>
              </a:rPr>
              <a:t>Temperature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sz="1600" b="0" i="1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: divides every logit before softmax. </a:t>
            </a:r>
            <a:r>
              <a:rPr sz="1600" b="0" i="1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 → 0: all mass on the top logit. </a:t>
            </a:r>
            <a:r>
              <a:rPr sz="1600" b="0" i="1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 = 1: the distribution as trained. </a:t>
            </a:r>
            <a:r>
              <a:rPr sz="1600" b="0" i="1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600" b="0" i="0">
                <a:solidFill>
                  <a:srgbClr val="000000"/>
                </a:solidFill>
                <a:latin typeface="Times New Roman"/>
                <a:cs typeface="Times New Roman"/>
              </a:rPr>
              <a:t> &gt; 1: flatter, higher-entropy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598017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" name="Picture 2" descr="logo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0"/>
            <a:ext cx="711403" cy="5980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6112" y="27432"/>
            <a:ext cx="6400800" cy="543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2400" b="1" i="0">
                <a:solidFill>
                  <a:srgbClr val="FFF9D9"/>
                </a:solidFill>
                <a:latin typeface="Times New Roman"/>
                <a:cs typeface="Times New Roman"/>
              </a:rPr>
              <a:t>Chapter 1: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"/>
            <a:ext cx="1234440" cy="543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2000" b="0" i="0">
                <a:solidFill>
                  <a:srgbClr val="F6BE00"/>
                </a:solidFill>
                <a:latin typeface="Times New Roman"/>
                <a:cs typeface="Times New Roman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9691" y="566928"/>
            <a:ext cx="10747857" cy="95097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3450" b="0" i="0">
                <a:solidFill>
                  <a:srgbClr val="000000"/>
                </a:solidFill>
                <a:latin typeface="Times New Roman"/>
                <a:cs typeface="Times New Roman"/>
              </a:rPr>
              <a:t>Neural Network: Variance — Sampling, Temperature, Seeds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8835" y="1687982"/>
            <a:ext cx="10747857" cy="19050"/>
          </a:xfrm>
          <a:prstGeom prst="rect">
            <a:avLst/>
          </a:prstGeom>
          <a:solidFill>
            <a:srgbClr val="960C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footer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" y="5943600"/>
            <a:ext cx="11048695" cy="8887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8835" y="1819656"/>
            <a:ext cx="1074785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000000"/>
                </a:solidFill>
                <a:latin typeface="Times New Roman"/>
                <a:cs typeface="Times New Roman"/>
              </a:rPr>
              <a:t>Same weights, same prompt, same arithmetic → the same logits. The variety you observe between regenerations is injected on purpose, here:</a:t>
            </a:r>
          </a:p>
        </p:txBody>
      </p:sp>
      <p:pic>
        <p:nvPicPr>
          <p:cNvPr id="10" name="Picture 9" descr="s19_sample_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1247" y="2176272"/>
            <a:ext cx="2649474" cy="2103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8835" y="2532888"/>
            <a:ext cx="5440680" cy="33741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5856" indent="-225856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  <a:cs typeface="Times New Roman"/>
              </a:rPr>
              <a:t>❑ </a:t>
            </a:r>
            <a:r>
              <a:rPr sz="1300" b="1" i="0">
                <a:solidFill>
                  <a:srgbClr val="960C22"/>
                </a:solidFill>
                <a:latin typeface="Times New Roman"/>
                <a:cs typeface="Times New Roman"/>
              </a:rPr>
              <a:t>Sampling policies</a:t>
            </a:r>
            <a:r>
              <a:rPr sz="1300" b="0" i="0">
                <a:solidFill>
                  <a:srgbClr val="000000"/>
                </a:solidFill>
                <a:latin typeface="Times New Roman"/>
                <a:cs typeface="Times New Roman"/>
              </a:rPr>
              <a:t> (all operate on the logits of slide 18):</a:t>
            </a:r>
          </a:p>
          <a:p>
            <a:pPr algn="l" marL="500176" indent="-225856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  <a:cs typeface="Times New Roman"/>
              </a:rPr>
              <a:t>❑ </a:t>
            </a:r>
            <a:r>
              <a:rPr sz="1300" b="1" i="0">
                <a:solidFill>
                  <a:srgbClr val="960C22"/>
                </a:solidFill>
                <a:latin typeface="Times New Roman"/>
                <a:cs typeface="Times New Roman"/>
              </a:rPr>
              <a:t>Greedy</a:t>
            </a:r>
            <a:r>
              <a:rPr sz="880" b="1" i="0" baseline="30000">
                <a:solidFill>
                  <a:srgbClr val="000000"/>
                </a:solidFill>
                <a:latin typeface="Times New Roman"/>
                <a:cs typeface="Times New Roman"/>
              </a:rPr>
              <a:t>(argmax)</a:t>
            </a:r>
            <a:r>
              <a:rPr sz="1300" b="0" i="0">
                <a:solidFill>
                  <a:srgbClr val="000000"/>
                </a:solidFill>
                <a:latin typeface="Times New Roman"/>
                <a:cs typeface="Times New Roman"/>
              </a:rPr>
              <a:t>: always the top token. Deterministic; repetitive on open-ended text (Holtzman et al., 2020).</a:t>
            </a:r>
          </a:p>
          <a:p>
            <a:pPr algn="l" marL="500176" indent="-225856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  <a:cs typeface="Times New Roman"/>
              </a:rPr>
              <a:t>❑ </a:t>
            </a:r>
            <a:r>
              <a:rPr sz="1300" b="1" i="0">
                <a:solidFill>
                  <a:srgbClr val="960C22"/>
                </a:solidFill>
                <a:latin typeface="Times New Roman"/>
                <a:cs typeface="Times New Roman"/>
              </a:rPr>
              <a:t>Temperature sampling</a:t>
            </a:r>
            <a:r>
              <a:rPr sz="1300" b="0" i="0">
                <a:solidFill>
                  <a:srgbClr val="000000"/>
                </a:solidFill>
                <a:latin typeface="Times New Roman"/>
                <a:cs typeface="Times New Roman"/>
              </a:rPr>
              <a:t>: draw from </a:t>
            </a:r>
            <a:r>
              <a:rPr sz="1300" b="0" i="1">
                <a:solidFill>
                  <a:srgbClr val="000000"/>
                </a:solidFill>
                <a:latin typeface="Times New Roman"/>
                <a:cs typeface="Times New Roman"/>
              </a:rPr>
              <a:t>P</a:t>
            </a:r>
            <a:r>
              <a:rPr sz="910" b="0" i="1" baseline="-2500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300" b="0" i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</a:p>
          <a:p>
            <a:pPr algn="l" marL="500176" indent="-225856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  <a:cs typeface="Times New Roman"/>
              </a:rPr>
              <a:t>❑ </a:t>
            </a:r>
            <a:r>
              <a:rPr sz="1300" b="1" i="0">
                <a:solidFill>
                  <a:srgbClr val="960C22"/>
                </a:solidFill>
                <a:latin typeface="Times New Roman"/>
                <a:cs typeface="Times New Roman"/>
              </a:rPr>
              <a:t>Top-k</a:t>
            </a:r>
            <a:r>
              <a:rPr sz="1300" b="0" i="0">
                <a:solidFill>
                  <a:srgbClr val="000000"/>
                </a:solidFill>
                <a:latin typeface="Times New Roman"/>
                <a:cs typeface="Times New Roman"/>
              </a:rPr>
              <a:t>: keep the highest </a:t>
            </a:r>
            <a:r>
              <a:rPr sz="1300" b="0" i="1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r>
              <a:rPr sz="1300" b="0" i="0">
                <a:solidFill>
                  <a:srgbClr val="000000"/>
                </a:solidFill>
                <a:latin typeface="Times New Roman"/>
                <a:cs typeface="Times New Roman"/>
              </a:rPr>
              <a:t> logits, renormalize, draw. </a:t>
            </a:r>
            <a:r>
              <a:rPr sz="1300" b="0" i="1">
                <a:solidFill>
                  <a:srgbClr val="00866C"/>
                </a:solidFill>
                <a:latin typeface="Times New Roman"/>
                <a:cs typeface="Times New Roman"/>
              </a:rPr>
              <a:t>(The </a:t>
            </a:r>
            <a:r>
              <a:rPr sz="1300" b="1" i="1">
                <a:solidFill>
                  <a:srgbClr val="00866C"/>
                </a:solidFill>
                <a:latin typeface="Times New Roman"/>
                <a:cs typeface="Times New Roman"/>
              </a:rPr>
              <a:t>k</a:t>
            </a:r>
            <a:r>
              <a:rPr sz="1300" b="0" i="1">
                <a:solidFill>
                  <a:srgbClr val="00866C"/>
                </a:solidFill>
                <a:latin typeface="Times New Roman"/>
                <a:cs typeface="Times New Roman"/>
              </a:rPr>
              <a:t> in this policy's name is the candidate count, not the context length </a:t>
            </a:r>
            <a:r>
              <a:rPr sz="1300" b="1" i="1">
                <a:solidFill>
                  <a:srgbClr val="00866C"/>
                </a:solidFill>
                <a:latin typeface="Times New Roman"/>
                <a:cs typeface="Times New Roman"/>
              </a:rPr>
              <a:t>k</a:t>
            </a:r>
            <a:r>
              <a:rPr sz="1300" b="0" i="1">
                <a:solidFill>
                  <a:srgbClr val="00866C"/>
                </a:solidFill>
                <a:latin typeface="Times New Roman"/>
                <a:cs typeface="Times New Roman"/>
              </a:rPr>
              <a:t> of </a:t>
            </a:r>
            <a:r>
              <a:rPr sz="1300" b="1" i="1">
                <a:solidFill>
                  <a:srgbClr val="00866C"/>
                </a:solidFill>
                <a:latin typeface="Times New Roman"/>
                <a:cs typeface="Times New Roman"/>
              </a:rPr>
              <a:t>x</a:t>
            </a:r>
            <a:r>
              <a:rPr sz="910" b="0" i="1" baseline="-25000">
                <a:solidFill>
                  <a:srgbClr val="00866C"/>
                </a:solidFill>
                <a:latin typeface="Times New Roman"/>
                <a:cs typeface="Times New Roman"/>
              </a:rPr>
              <a:t>1:k</a:t>
            </a:r>
            <a:r>
              <a:rPr sz="1300" b="0" i="1">
                <a:solidFill>
                  <a:srgbClr val="00866C"/>
                </a:solidFill>
                <a:latin typeface="Times New Roman"/>
                <a:cs typeface="Times New Roman"/>
              </a:rPr>
              <a:t>.)</a:t>
            </a:r>
          </a:p>
          <a:p>
            <a:pPr algn="l" marL="500176" indent="-225856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  <a:cs typeface="Times New Roman"/>
              </a:rPr>
              <a:t>❑ </a:t>
            </a:r>
            <a:r>
              <a:rPr sz="1300" b="1" i="0">
                <a:solidFill>
                  <a:srgbClr val="960C22"/>
                </a:solidFill>
                <a:latin typeface="Times New Roman"/>
                <a:cs typeface="Times New Roman"/>
              </a:rPr>
              <a:t>Top-p</a:t>
            </a:r>
            <a:r>
              <a:rPr sz="880" b="1" i="0" baseline="30000">
                <a:solidFill>
                  <a:srgbClr val="000000"/>
                </a:solidFill>
                <a:latin typeface="Times New Roman"/>
                <a:cs typeface="Times New Roman"/>
              </a:rPr>
              <a:t>(Nucleus)</a:t>
            </a:r>
            <a:r>
              <a:rPr sz="1300" b="0" i="0">
                <a:solidFill>
                  <a:srgbClr val="000000"/>
                </a:solidFill>
                <a:latin typeface="Times New Roman"/>
                <a:cs typeface="Times New Roman"/>
              </a:rPr>
              <a:t>: keep the smallest token set whose cumulative probability exceeds </a:t>
            </a:r>
            <a:r>
              <a:rPr sz="1300" b="0" i="1">
                <a:solidFill>
                  <a:srgbClr val="000000"/>
                </a:solidFill>
                <a:latin typeface="Times New Roman"/>
                <a:cs typeface="Times New Roman"/>
              </a:rPr>
              <a:t>p</a:t>
            </a:r>
            <a:r>
              <a:rPr sz="1300" b="0" i="0">
                <a:solidFill>
                  <a:srgbClr val="000000"/>
                </a:solidFill>
                <a:latin typeface="Times New Roman"/>
                <a:cs typeface="Times New Roman"/>
              </a:rPr>
              <a:t>, renormalize, draw.</a:t>
            </a:r>
          </a:p>
          <a:p>
            <a:pPr algn="l" marL="225856" indent="-225856"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  <a:cs typeface="Times New Roman"/>
              </a:rPr>
              <a:t>❑ </a:t>
            </a:r>
            <a:r>
              <a:rPr sz="1300" b="1" i="0">
                <a:solidFill>
                  <a:srgbClr val="960C22"/>
                </a:solidFill>
                <a:latin typeface="Times New Roman"/>
                <a:cs typeface="Times New Roman"/>
              </a:rPr>
              <a:t>Seed</a:t>
            </a:r>
            <a:r>
              <a:rPr sz="880" b="1" i="0" baseline="30000">
                <a:solidFill>
                  <a:srgbClr val="000000"/>
                </a:solidFill>
                <a:latin typeface="Times New Roman"/>
                <a:cs typeface="Times New Roman"/>
              </a:rPr>
              <a:t>(PRNG State)</a:t>
            </a:r>
            <a:r>
              <a:rPr sz="1300" b="0" i="0">
                <a:solidFill>
                  <a:srgbClr val="000000"/>
                </a:solidFill>
                <a:latin typeface="Times New Roman"/>
                <a:cs typeface="Times New Roman"/>
              </a:rPr>
              <a:t>: the draw uses a pseudo-random number generator. Fixed seed → identical draw sequence → reproducible output. </a:t>
            </a:r>
            <a:r>
              <a:rPr sz="1300" b="0" i="1">
                <a:solidFill>
                  <a:srgbClr val="00866C"/>
                </a:solidFill>
                <a:latin typeface="Times New Roman"/>
                <a:cs typeface="Times New Roman"/>
              </a:rPr>
              <a:t>(Hint: hosted products don't expose the seed. API access does — and even then </a:t>
            </a:r>
            <a:r>
              <a:rPr sz="1300" b="1" i="1">
                <a:solidFill>
                  <a:srgbClr val="00866C"/>
                </a:solidFill>
                <a:latin typeface="Times New Roman"/>
                <a:cs typeface="Times New Roman"/>
              </a:rPr>
              <a:t>T</a:t>
            </a:r>
            <a:r>
              <a:rPr sz="1300" b="0" i="1">
                <a:solidFill>
                  <a:srgbClr val="00866C"/>
                </a:solidFill>
                <a:latin typeface="Times New Roman"/>
                <a:cs typeface="Times New Roman"/>
              </a:rPr>
              <a:t> = 0 across a provider's hardware is not bit-reproducible: parallel floating-point addition is non-associative.)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0411" y="2532888"/>
            <a:ext cx="499628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00000"/>
                </a:solidFill>
                <a:latin typeface="Times New Roman"/>
                <a:cs typeface="Times New Roman"/>
              </a:rPr>
              <a:t>Worked example.</a:t>
            </a:r>
            <a:r>
              <a:rPr sz="1150" b="0" i="0">
                <a:solidFill>
                  <a:srgbClr val="000000"/>
                </a:solidFill>
                <a:latin typeface="Times New Roman"/>
                <a:cs typeface="Times New Roman"/>
              </a:rPr>
              <a:t> Four-token vocabulary, logits </a:t>
            </a:r>
            <a:r>
              <a:rPr sz="1150" b="1" i="1">
                <a:solidFill>
                  <a:srgbClr val="000000"/>
                </a:solidFill>
                <a:latin typeface="Times New Roman"/>
                <a:cs typeface="Times New Roman"/>
              </a:rPr>
              <a:t>z</a:t>
            </a:r>
            <a:r>
              <a:rPr sz="1150" b="0" i="0">
                <a:solidFill>
                  <a:srgbClr val="000000"/>
                </a:solidFill>
                <a:latin typeface="Times New Roman"/>
                <a:cs typeface="Times New Roman"/>
              </a:rPr>
              <a:t> = (2.0,  1.0,  0.2,  −1.0):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90411" y="2935224"/>
          <a:ext cx="5010912" cy="950976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133856"/>
                <a:gridCol w="969264"/>
                <a:gridCol w="969264"/>
                <a:gridCol w="969264"/>
                <a:gridCol w="969264"/>
              </a:tblGrid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730" b="1" i="1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730" b="1" i="1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730" b="1" i="1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730" b="1" i="1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730" b="0" i="1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T=0.5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0.858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0.116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0.023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0.002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730" b="0" i="1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T=1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0.632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0.232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0.104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0.031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730" b="0" i="1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T=2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0.447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0.271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0.182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0.100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490411" y="4032504"/>
            <a:ext cx="4996281" cy="868680"/>
          </a:xfrm>
          <a:prstGeom prst="rect">
            <a:avLst/>
          </a:prstGeom>
          <a:solidFill>
            <a:srgbClr val="F2F2F2"/>
          </a:solidFill>
          <a:ln w="9525">
            <a:solidFill>
              <a:srgbClr val="B8B8B8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sz="900" b="0" i="1">
                <a:solidFill>
                  <a:srgbClr val="606060"/>
                </a:solidFill>
                <a:latin typeface="Times New Roman"/>
                <a:cs typeface="Times New Roman"/>
              </a:rPr>
              <a:t>[one bar chart per temperature: P over v₁…v₄ at T = 0.5, T = 1, T = 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0411" y="4992624"/>
            <a:ext cx="499628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00000"/>
                </a:solidFill>
                <a:latin typeface="Times New Roman"/>
                <a:cs typeface="Times New Roman"/>
              </a:rPr>
              <a:t>Draw </a:t>
            </a:r>
            <a:r>
              <a:rPr sz="1150" b="0" i="1">
                <a:solidFill>
                  <a:srgbClr val="000000"/>
                </a:solidFill>
                <a:latin typeface="Times New Roman"/>
                <a:cs typeface="Times New Roman"/>
              </a:rPr>
              <a:t>u</a:t>
            </a:r>
            <a:r>
              <a:rPr sz="1150" b="0" i="0">
                <a:solidFill>
                  <a:srgbClr val="000000"/>
                </a:solidFill>
                <a:latin typeface="Times New Roman"/>
                <a:cs typeface="Times New Roman"/>
              </a:rPr>
              <a:t> ~ </a:t>
            </a:r>
            <a:r>
              <a:rPr sz="1150" b="0" i="0">
                <a:solidFill>
                  <a:srgbClr val="000000"/>
                </a:solidFill>
                <a:latin typeface="Cambria Math"/>
                <a:cs typeface="Cambria Math"/>
              </a:rPr>
              <a:t>𝒰</a:t>
            </a:r>
            <a:r>
              <a:rPr sz="1150" b="0" i="0">
                <a:solidFill>
                  <a:srgbClr val="000000"/>
                </a:solidFill>
                <a:latin typeface="Times New Roman"/>
                <a:cs typeface="Times New Roman"/>
              </a:rPr>
              <a:t>(0,1) from the seeded PRNG; walk the cumulative sums of </a:t>
            </a:r>
            <a:r>
              <a:rPr sz="1150" b="0" i="1">
                <a:solidFill>
                  <a:srgbClr val="000000"/>
                </a:solidFill>
                <a:latin typeface="Times New Roman"/>
                <a:cs typeface="Times New Roman"/>
              </a:rPr>
              <a:t>P</a:t>
            </a:r>
            <a:r>
              <a:rPr sz="800" b="0" i="1" baseline="-25000">
                <a:solidFill>
                  <a:srgbClr val="000000"/>
                </a:solidFill>
                <a:latin typeface="Times New Roman"/>
                <a:cs typeface="Times New Roman"/>
              </a:rPr>
              <a:t>T=1</a:t>
            </a:r>
            <a:r>
              <a:rPr sz="1150" b="0" i="0">
                <a:solidFill>
                  <a:srgbClr val="000000"/>
                </a:solidFill>
                <a:latin typeface="Times New Roman"/>
                <a:cs typeface="Times New Roman"/>
              </a:rPr>
              <a:t>: (0.632,  0.864,  0.969,  1.000).</a:t>
            </a:r>
          </a:p>
          <a:p>
            <a:pPr algn="l" marL="199796" indent="-199796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00000"/>
                </a:solidFill>
                <a:latin typeface="Times New Roman"/>
                <a:cs typeface="Times New Roman"/>
              </a:rPr>
              <a:t>❖ </a:t>
            </a:r>
            <a:r>
              <a:rPr sz="1150" b="0" i="1">
                <a:solidFill>
                  <a:srgbClr val="000000"/>
                </a:solidFill>
                <a:latin typeface="Times New Roman"/>
                <a:cs typeface="Times New Roman"/>
              </a:rPr>
              <a:t>u</a:t>
            </a:r>
            <a:r>
              <a:rPr sz="1150" b="0" i="0">
                <a:solidFill>
                  <a:srgbClr val="000000"/>
                </a:solidFill>
                <a:latin typeface="Times New Roman"/>
                <a:cs typeface="Times New Roman"/>
              </a:rPr>
              <a:t> = 0.22 ⇒ </a:t>
            </a:r>
            <a:r>
              <a:rPr sz="1150" b="0" i="1">
                <a:solidFill>
                  <a:srgbClr val="000000"/>
                </a:solidFill>
                <a:latin typeface="Times New Roman"/>
                <a:cs typeface="Times New Roman"/>
              </a:rPr>
              <a:t>v</a:t>
            </a:r>
            <a:r>
              <a:rPr sz="800" b="0" i="1" baseline="-2500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sz="1150" b="0" i="0">
                <a:solidFill>
                  <a:srgbClr val="000000"/>
                </a:solidFill>
                <a:latin typeface="Times New Roman"/>
                <a:cs typeface="Times New Roman"/>
              </a:rPr>
              <a:t>.  ❖ </a:t>
            </a:r>
            <a:r>
              <a:rPr sz="1150" b="0" i="1">
                <a:solidFill>
                  <a:srgbClr val="000000"/>
                </a:solidFill>
                <a:latin typeface="Times New Roman"/>
                <a:cs typeface="Times New Roman"/>
              </a:rPr>
              <a:t>u</a:t>
            </a:r>
            <a:r>
              <a:rPr sz="1150" b="0" i="0">
                <a:solidFill>
                  <a:srgbClr val="000000"/>
                </a:solidFill>
                <a:latin typeface="Times New Roman"/>
                <a:cs typeface="Times New Roman"/>
              </a:rPr>
              <a:t> = 0.71 ⇒ </a:t>
            </a:r>
            <a:r>
              <a:rPr sz="1150" b="0" i="1">
                <a:solidFill>
                  <a:srgbClr val="000000"/>
                </a:solidFill>
                <a:latin typeface="Times New Roman"/>
                <a:cs typeface="Times New Roman"/>
              </a:rPr>
              <a:t>v</a:t>
            </a:r>
            <a:r>
              <a:rPr sz="800" b="0" i="1" baseline="-2500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1150" b="0" i="0">
                <a:solidFill>
                  <a:srgbClr val="000000"/>
                </a:solidFill>
                <a:latin typeface="Times New Roman"/>
                <a:cs typeface="Times New Roman"/>
              </a:rPr>
              <a:t>.  ❖ Same seed, same </a:t>
            </a:r>
            <a:r>
              <a:rPr sz="1150" b="0" i="1">
                <a:solidFill>
                  <a:srgbClr val="000000"/>
                </a:solidFill>
                <a:latin typeface="Times New Roman"/>
                <a:cs typeface="Times New Roman"/>
              </a:rPr>
              <a:t>u</a:t>
            </a:r>
            <a:r>
              <a:rPr sz="1150" b="0" i="0">
                <a:solidFill>
                  <a:srgbClr val="000000"/>
                </a:solidFill>
                <a:latin typeface="Times New Roman"/>
                <a:cs typeface="Times New Roman"/>
              </a:rPr>
              <a:t>, same token; new seed, new draw, same distribution.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598017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" name="Picture 2" descr="logo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0"/>
            <a:ext cx="711403" cy="5980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6112" y="27432"/>
            <a:ext cx="6400800" cy="543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2400" b="1" i="0">
                <a:solidFill>
                  <a:srgbClr val="FFF9D9"/>
                </a:solidFill>
                <a:latin typeface="Times New Roman"/>
                <a:cs typeface="Times New Roman"/>
              </a:rPr>
              <a:t>Chapter 1: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"/>
            <a:ext cx="1234440" cy="543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2000" b="0" i="0">
                <a:solidFill>
                  <a:srgbClr val="F6BE00"/>
                </a:solidFill>
                <a:latin typeface="Times New Roman"/>
                <a:cs typeface="Times New Roman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9691" y="566928"/>
            <a:ext cx="10747857" cy="95097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4000" b="0" i="0">
                <a:solidFill>
                  <a:srgbClr val="000000"/>
                </a:solidFill>
                <a:latin typeface="Times New Roman"/>
                <a:cs typeface="Times New Roman"/>
              </a:rPr>
              <a:t>Neural Network: The Assembled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8835" y="1687982"/>
            <a:ext cx="10747857" cy="19050"/>
          </a:xfrm>
          <a:prstGeom prst="rect">
            <a:avLst/>
          </a:prstGeom>
          <a:solidFill>
            <a:srgbClr val="960C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footer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" y="5943600"/>
            <a:ext cx="11048695" cy="8887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8835" y="1819656"/>
            <a:ext cx="1074785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000000"/>
                </a:solidFill>
                <a:latin typeface="Times New Roman"/>
                <a:cs typeface="Times New Roman"/>
              </a:rPr>
              <a:t>Seven steps, six of which you have already seen defined. The seventh is a </a:t>
            </a:r>
            <a:r>
              <a:rPr sz="1350" b="0" i="0">
                <a:solidFill>
                  <a:srgbClr val="000000"/>
                </a:solidFill>
                <a:latin typeface="Courier New"/>
                <a:cs typeface="Courier New"/>
              </a:rPr>
              <a:t>while</a:t>
            </a:r>
            <a:r>
              <a:rPr sz="1350" b="0" i="1">
                <a:solidFill>
                  <a:srgbClr val="000000"/>
                </a:solidFill>
                <a:latin typeface="Times New Roman"/>
                <a:cs typeface="Times New Roman"/>
              </a:rPr>
              <a:t> loop.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" y="2212848"/>
            <a:ext cx="69037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4543" indent="-234543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1. </a:t>
            </a:r>
            <a:r>
              <a:rPr sz="1350" b="1" i="0">
                <a:solidFill>
                  <a:srgbClr val="000000"/>
                </a:solidFill>
                <a:latin typeface="Times New Roman"/>
                <a:cs typeface="Times New Roman"/>
              </a:rPr>
              <a:t>Tokenize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 (slides 8–9 | box: </a:t>
            </a:r>
            <a:r>
              <a:rPr sz="1350" b="0" i="1">
                <a:solidFill>
                  <a:srgbClr val="000000"/>
                </a:solidFill>
                <a:latin typeface="Times New Roman"/>
                <a:cs typeface="Times New Roman"/>
              </a:rPr>
              <a:t>Tokenizer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): text → </a:t>
            </a:r>
            <a:r>
              <a:rPr sz="1350" b="1" i="1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940" b="1" i="1" baseline="-25000">
                <a:solidFill>
                  <a:srgbClr val="000000"/>
                </a:solidFill>
                <a:latin typeface="Times New Roman"/>
                <a:cs typeface="Times New Roman"/>
              </a:rPr>
              <a:t>1:k</a:t>
            </a:r>
          </a:p>
          <a:p>
            <a:pPr algn="l" marL="234543" indent="-234543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2. </a:t>
            </a:r>
            <a:r>
              <a:rPr sz="1350" b="1" i="0">
                <a:solidFill>
                  <a:srgbClr val="000000"/>
                </a:solidFill>
                <a:latin typeface="Times New Roman"/>
                <a:cs typeface="Times New Roman"/>
              </a:rPr>
              <a:t>Embed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 (slide 16): </a:t>
            </a:r>
            <a:r>
              <a:rPr sz="1350" b="1" i="1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  <a:r>
              <a:rPr sz="940" b="1" i="1" baseline="-2500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940" b="1" i="1" baseline="30000">
                <a:solidFill>
                  <a:srgbClr val="000000"/>
                </a:solidFill>
                <a:latin typeface="Times New Roman"/>
                <a:cs typeface="Times New Roman"/>
              </a:rPr>
              <a:t>(0)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 = </a:t>
            </a:r>
            <a:r>
              <a:rPr sz="1350" b="1" i="1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  <a:r>
              <a:rPr sz="940" b="1" i="1" baseline="-2500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940" b="1" i="1" baseline="-2500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 + </a:t>
            </a:r>
            <a:r>
              <a:rPr sz="1350" b="1" i="1">
                <a:solidFill>
                  <a:srgbClr val="000000"/>
                </a:solidFill>
                <a:latin typeface="Times New Roman"/>
                <a:cs typeface="Times New Roman"/>
              </a:rPr>
              <a:t>p</a:t>
            </a:r>
            <a:r>
              <a:rPr sz="940" b="1" i="1" baseline="-2500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</a:p>
          <a:p>
            <a:pPr algn="l" marL="234543" indent="-234543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3. </a:t>
            </a:r>
            <a:r>
              <a:rPr sz="1350" b="1" i="0">
                <a:solidFill>
                  <a:srgbClr val="000000"/>
                </a:solidFill>
                <a:latin typeface="Times New Roman"/>
                <a:cs typeface="Times New Roman"/>
              </a:rPr>
              <a:t>N decoder blocks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 (slide 17 | box: </a:t>
            </a:r>
            <a:r>
              <a:rPr sz="1350" b="0" i="1">
                <a:solidFill>
                  <a:srgbClr val="000000"/>
                </a:solidFill>
                <a:latin typeface="Times New Roman"/>
                <a:cs typeface="Times New Roman"/>
              </a:rPr>
              <a:t>T-Decoder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): → </a:t>
            </a:r>
            <a:r>
              <a:rPr sz="1350" b="1" i="1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  <a:r>
              <a:rPr sz="940" b="1" i="1" baseline="-25000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r>
              <a:rPr sz="940" b="1" i="1" baseline="30000">
                <a:solidFill>
                  <a:srgbClr val="000000"/>
                </a:solidFill>
                <a:latin typeface="Times New Roman"/>
                <a:cs typeface="Times New Roman"/>
              </a:rPr>
              <a:t>(N)</a:t>
            </a:r>
          </a:p>
          <a:p>
            <a:pPr algn="l" marL="234543" indent="-234543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4. </a:t>
            </a:r>
            <a:r>
              <a:rPr sz="1350" b="1" i="0">
                <a:solidFill>
                  <a:srgbClr val="000000"/>
                </a:solidFill>
                <a:latin typeface="Times New Roman"/>
                <a:cs typeface="Times New Roman"/>
              </a:rPr>
              <a:t>Logits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 (slide 18): </a:t>
            </a:r>
            <a:r>
              <a:rPr sz="1350" b="1" i="1">
                <a:solidFill>
                  <a:srgbClr val="000000"/>
                </a:solidFill>
                <a:latin typeface="Times New Roman"/>
                <a:cs typeface="Times New Roman"/>
              </a:rPr>
              <a:t>z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 = </a:t>
            </a:r>
            <a:r>
              <a:rPr sz="1350" b="0" i="1">
                <a:solidFill>
                  <a:srgbClr val="000000"/>
                </a:solidFill>
                <a:latin typeface="Times New Roman"/>
                <a:cs typeface="Times New Roman"/>
              </a:rPr>
              <a:t>W</a:t>
            </a:r>
            <a:r>
              <a:rPr sz="940" b="0" i="1" baseline="-25000">
                <a:solidFill>
                  <a:srgbClr val="000000"/>
                </a:solidFill>
                <a:latin typeface="Times New Roman"/>
                <a:cs typeface="Times New Roman"/>
              </a:rPr>
              <a:t>U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 </a:t>
            </a:r>
            <a:r>
              <a:rPr sz="1350" b="1" i="1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  <a:r>
              <a:rPr sz="940" b="1" i="1" baseline="-25000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r>
              <a:rPr sz="940" b="1" i="1" baseline="30000">
                <a:solidFill>
                  <a:srgbClr val="000000"/>
                </a:solidFill>
                <a:latin typeface="Times New Roman"/>
                <a:cs typeface="Times New Roman"/>
              </a:rPr>
              <a:t>(N)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 + </a:t>
            </a:r>
            <a:r>
              <a:rPr sz="1350" b="1" i="1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  <a:r>
              <a:rPr sz="940" b="1" i="1" baseline="-25000">
                <a:solidFill>
                  <a:srgbClr val="000000"/>
                </a:solidFill>
                <a:latin typeface="Times New Roman"/>
                <a:cs typeface="Times New Roman"/>
              </a:rPr>
              <a:t>U</a:t>
            </a:r>
          </a:p>
          <a:p>
            <a:pPr algn="l" marL="234543" indent="-234543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5. </a:t>
            </a:r>
            <a:r>
              <a:rPr sz="1350" b="1" i="0">
                <a:solidFill>
                  <a:srgbClr val="000000"/>
                </a:solidFill>
                <a:latin typeface="Times New Roman"/>
                <a:cs typeface="Times New Roman"/>
              </a:rPr>
              <a:t>Distribution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 (slide 18): </a:t>
            </a:r>
            <a:r>
              <a:rPr sz="1350" b="0" i="1">
                <a:solidFill>
                  <a:srgbClr val="000000"/>
                </a:solidFill>
                <a:latin typeface="Times New Roman"/>
                <a:cs typeface="Times New Roman"/>
              </a:rPr>
              <a:t>P</a:t>
            </a:r>
            <a:r>
              <a:rPr sz="940" b="0" i="1" baseline="-2500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 = softmax(</a:t>
            </a:r>
            <a:r>
              <a:rPr sz="1350" b="1" i="1">
                <a:solidFill>
                  <a:srgbClr val="000000"/>
                </a:solidFill>
                <a:latin typeface="Times New Roman"/>
                <a:cs typeface="Times New Roman"/>
              </a:rPr>
              <a:t>z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/</a:t>
            </a:r>
            <a:r>
              <a:rPr sz="1350" b="0" i="1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</a:p>
          <a:p>
            <a:pPr algn="l" marL="234543" indent="-234543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6. </a:t>
            </a:r>
            <a:r>
              <a:rPr sz="1350" b="1" i="0">
                <a:solidFill>
                  <a:srgbClr val="000000"/>
                </a:solidFill>
                <a:latin typeface="Times New Roman"/>
                <a:cs typeface="Times New Roman"/>
              </a:rPr>
              <a:t>Sample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 (slide 19 | box: </a:t>
            </a:r>
            <a:r>
              <a:rPr sz="1350" b="0" i="1">
                <a:solidFill>
                  <a:srgbClr val="000000"/>
                </a:solidFill>
                <a:latin typeface="Times New Roman"/>
                <a:cs typeface="Times New Roman"/>
              </a:rPr>
              <a:t>Action Sampling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): </a:t>
            </a:r>
            <a:r>
              <a:rPr sz="1350" b="1" i="1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940" b="1" i="1" baseline="-25000">
                <a:solidFill>
                  <a:srgbClr val="000000"/>
                </a:solidFill>
                <a:latin typeface="Times New Roman"/>
                <a:cs typeface="Times New Roman"/>
              </a:rPr>
              <a:t>k+1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 ∼ Categorical(</a:t>
            </a:r>
            <a:r>
              <a:rPr sz="1350" b="0" i="1">
                <a:solidFill>
                  <a:srgbClr val="000000"/>
                </a:solidFill>
                <a:latin typeface="Times New Roman"/>
                <a:cs typeface="Times New Roman"/>
              </a:rPr>
              <a:t>P</a:t>
            </a:r>
            <a:r>
              <a:rPr sz="940" b="0" i="1" baseline="-2500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</a:p>
          <a:p>
            <a:pPr algn="l" marL="234543" indent="-234543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7. </a:t>
            </a:r>
            <a:r>
              <a:rPr sz="1350" b="1" i="0">
                <a:solidFill>
                  <a:srgbClr val="000000"/>
                </a:solidFill>
                <a:latin typeface="Times New Roman"/>
                <a:cs typeface="Times New Roman"/>
              </a:rPr>
              <a:t>Append and repeat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 (box: </a:t>
            </a:r>
            <a:r>
              <a:rPr sz="1350" b="0" i="1">
                <a:solidFill>
                  <a:srgbClr val="000000"/>
                </a:solidFill>
                <a:latin typeface="Times New Roman"/>
                <a:cs typeface="Times New Roman"/>
              </a:rPr>
              <a:t>Agent Harness / decoding loop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): </a:t>
            </a:r>
            <a:r>
              <a:rPr sz="1350" b="0" i="1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 ← </a:t>
            </a:r>
            <a:r>
              <a:rPr sz="1350" b="0" i="1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+1, go to 2 — until the sampled token is </a:t>
            </a:r>
            <a:r>
              <a:rPr sz="1350" b="1" i="0">
                <a:solidFill>
                  <a:srgbClr val="000000"/>
                </a:solidFill>
                <a:latin typeface="Courier New"/>
                <a:cs typeface="Courier New"/>
              </a:rPr>
              <a:t>&lt;eos&gt;</a:t>
            </a:r>
            <a:r>
              <a:rPr sz="919" b="1" i="0" baseline="30000">
                <a:solidFill>
                  <a:srgbClr val="000000"/>
                </a:solidFill>
                <a:latin typeface="Times New Roman"/>
                <a:cs typeface="Times New Roman"/>
              </a:rPr>
              <a:t>(End-of-Sequence)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 or a length limit trips.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16875" y="2212848"/>
            <a:ext cx="3569817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B8B8B8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sz="900" b="0" i="1">
                <a:solidFill>
                  <a:srgbClr val="606060"/>
                </a:solidFill>
                <a:latin typeface="Times New Roman"/>
                <a:cs typeface="Times New Roman"/>
              </a:rPr>
              <a:t>[numbered 7-step pipeline diagram: Tokenize → Embed → N decoder blocks → Logits → Distribution → Sample → Append and repeat; each stage labelled with its slide of origin and the matching slide-12/13 box name, with the feedback arrow from step 7 back to step 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" y="4443983"/>
            <a:ext cx="1074785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1513" indent="-221513"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000000"/>
                </a:solidFill>
                <a:latin typeface="Times New Roman"/>
                <a:cs typeface="Times New Roman"/>
              </a:rPr>
              <a:t>❑ </a:t>
            </a:r>
            <a:r>
              <a:rPr sz="1280" b="1" i="0">
                <a:solidFill>
                  <a:srgbClr val="000000"/>
                </a:solidFill>
                <a:latin typeface="Courier New"/>
                <a:cs typeface="Courier New"/>
              </a:rPr>
              <a:t>&lt;eos&gt;</a:t>
            </a:r>
            <a:r>
              <a:rPr sz="1280" b="0" i="0">
                <a:solidFill>
                  <a:srgbClr val="000000"/>
                </a:solidFill>
                <a:latin typeface="Times New Roman"/>
                <a:cs typeface="Times New Roman"/>
              </a:rPr>
              <a:t> is an ordinary vocabulary token the model learned to emit. The </a:t>
            </a:r>
            <a:r>
              <a:rPr sz="1280" b="0" i="1">
                <a:solidFill>
                  <a:srgbClr val="000000"/>
                </a:solidFill>
                <a:latin typeface="Times New Roman"/>
                <a:cs typeface="Times New Roman"/>
              </a:rPr>
              <a:t>loop</a:t>
            </a:r>
            <a:r>
              <a:rPr sz="1280" b="0" i="0">
                <a:solidFill>
                  <a:srgbClr val="000000"/>
                </a:solidFill>
                <a:latin typeface="Times New Roman"/>
                <a:cs typeface="Times New Roman"/>
              </a:rPr>
              <a:t> reads it and halts; the network only ever outputs a distribution.</a:t>
            </a:r>
          </a:p>
          <a:p>
            <a:pPr algn="l" marL="221513" indent="-221513"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000000"/>
                </a:solidFill>
                <a:latin typeface="Times New Roman"/>
                <a:cs typeface="Times New Roman"/>
              </a:rPr>
              <a:t>❖ The stopping rule, the token budget (slide 12: </a:t>
            </a:r>
            <a:r>
              <a:rPr sz="1280" b="0" i="1">
                <a:solidFill>
                  <a:srgbClr val="000000"/>
                </a:solidFill>
                <a:latin typeface="Times New Roman"/>
                <a:cs typeface="Times New Roman"/>
              </a:rPr>
              <a:t>Token Balance</a:t>
            </a:r>
            <a:r>
              <a:rPr sz="1280" b="0" i="0">
                <a:solidFill>
                  <a:srgbClr val="000000"/>
                </a:solidFill>
                <a:latin typeface="Times New Roman"/>
                <a:cs typeface="Times New Roman"/>
              </a:rPr>
              <a:t>), and retries are harness code. What the network contributes is steps 2–5; everything else on slides 12–13 is software arranged around those four steps.</a:t>
            </a:r>
          </a:p>
          <a:p>
            <a:pPr algn="l" marL="221513" indent="-221513"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000000"/>
                </a:solidFill>
                <a:latin typeface="Times New Roman"/>
                <a:cs typeface="Times New Roman"/>
              </a:rPr>
              <a:t>❖ Steps 1–7 are </a:t>
            </a:r>
            <a:r>
              <a:rPr sz="1280" b="1" i="0">
                <a:solidFill>
                  <a:srgbClr val="000000"/>
                </a:solidFill>
                <a:latin typeface="Times New Roman"/>
                <a:cs typeface="Times New Roman"/>
              </a:rPr>
              <a:t>Inference</a:t>
            </a:r>
            <a:r>
              <a:rPr sz="1280" b="0" i="0">
                <a:solidFill>
                  <a:srgbClr val="000000"/>
                </a:solidFill>
                <a:latin typeface="Times New Roman"/>
                <a:cs typeface="Times New Roman"/>
              </a:rPr>
              <a:t> exactly as defined on slide 5. One pass of steps 2–6 gives </a:t>
            </a:r>
            <a:r>
              <a:rPr sz="1280" b="0" i="1">
                <a:solidFill>
                  <a:srgbClr val="000000"/>
                </a:solidFill>
                <a:latin typeface="Times New Roman"/>
                <a:cs typeface="Times New Roman"/>
              </a:rPr>
              <a:t>P</a:t>
            </a:r>
            <a:r>
              <a:rPr sz="1280" b="0" i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1280" b="1" i="1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890" b="1" i="1" baseline="-25000">
                <a:solidFill>
                  <a:srgbClr val="000000"/>
                </a:solidFill>
                <a:latin typeface="Times New Roman"/>
                <a:cs typeface="Times New Roman"/>
              </a:rPr>
              <a:t>k+1</a:t>
            </a:r>
            <a:r>
              <a:rPr sz="1280" b="0" i="0">
                <a:solidFill>
                  <a:srgbClr val="000000"/>
                </a:solidFill>
                <a:latin typeface="Times New Roman"/>
                <a:cs typeface="Times New Roman"/>
              </a:rPr>
              <a:t> | </a:t>
            </a:r>
            <a:r>
              <a:rPr sz="1280" b="1" i="1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890" b="1" i="1" baseline="-25000">
                <a:solidFill>
                  <a:srgbClr val="000000"/>
                </a:solidFill>
                <a:latin typeface="Times New Roman"/>
                <a:cs typeface="Times New Roman"/>
              </a:rPr>
              <a:t>1:k</a:t>
            </a:r>
            <a:r>
              <a:rPr sz="1280" b="0" i="0">
                <a:solidFill>
                  <a:srgbClr val="000000"/>
                </a:solidFill>
                <a:latin typeface="Times New Roman"/>
                <a:cs typeface="Times New Roman"/>
              </a:rPr>
              <a:t>); step 7's loop is what turns that into slide 5's </a:t>
            </a:r>
            <a:r>
              <a:rPr sz="1280" b="0" i="1">
                <a:solidFill>
                  <a:srgbClr val="000000"/>
                </a:solidFill>
                <a:latin typeface="Times New Roman"/>
                <a:cs typeface="Times New Roman"/>
              </a:rPr>
              <a:t>P</a:t>
            </a:r>
            <a:r>
              <a:rPr sz="1280" b="0" i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1280" b="1" i="1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890" b="1" i="1" baseline="-25000">
                <a:solidFill>
                  <a:srgbClr val="000000"/>
                </a:solidFill>
                <a:latin typeface="Times New Roman"/>
                <a:cs typeface="Times New Roman"/>
              </a:rPr>
              <a:t>k+1:j</a:t>
            </a:r>
            <a:r>
              <a:rPr sz="1280" b="0" i="0">
                <a:solidFill>
                  <a:srgbClr val="000000"/>
                </a:solidFill>
                <a:latin typeface="Times New Roman"/>
                <a:cs typeface="Times New Roman"/>
              </a:rPr>
              <a:t> | </a:t>
            </a:r>
            <a:r>
              <a:rPr sz="1280" b="1" i="1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890" b="1" i="1" baseline="-25000">
                <a:solidFill>
                  <a:srgbClr val="000000"/>
                </a:solidFill>
                <a:latin typeface="Times New Roman"/>
                <a:cs typeface="Times New Roman"/>
              </a:rPr>
              <a:t>1:k</a:t>
            </a:r>
            <a:r>
              <a:rPr sz="1280" b="0" i="0">
                <a:solidFill>
                  <a:srgbClr val="000000"/>
                </a:solidFill>
                <a:latin typeface="Times New Roman"/>
                <a:cs typeface="Times New Roman"/>
              </a:rPr>
              <a:t>).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sz="1280" b="0" i="0">
                <a:solidFill>
                  <a:srgbClr val="000000"/>
                </a:solidFill>
                <a:latin typeface="Times New Roman"/>
                <a:cs typeface="Times New Roman"/>
              </a:rPr>
              <a:t>Every step above used weights already set. </a:t>
            </a:r>
            <a:r>
              <a:rPr sz="1280" b="1" i="0">
                <a:solidFill>
                  <a:srgbClr val="000000"/>
                </a:solidFill>
                <a:latin typeface="Times New Roman"/>
                <a:cs typeface="Times New Roman"/>
              </a:rPr>
              <a:t>Case Study 1</a:t>
            </a:r>
            <a:r>
              <a:rPr sz="1280" b="0" i="0">
                <a:solidFill>
                  <a:srgbClr val="000000"/>
                </a:solidFill>
                <a:latin typeface="Times New Roman"/>
                <a:cs typeface="Times New Roman"/>
              </a:rPr>
              <a:t> builds the machine that sets them, on the shortest network that still has a logit vector: one affine map, </a:t>
            </a:r>
            <a:r>
              <a:rPr sz="1280" b="1" i="1">
                <a:solidFill>
                  <a:srgbClr val="000000"/>
                </a:solidFill>
                <a:latin typeface="Times New Roman"/>
                <a:cs typeface="Times New Roman"/>
              </a:rPr>
              <a:t>z</a:t>
            </a:r>
            <a:r>
              <a:rPr sz="1280" b="0" i="0">
                <a:solidFill>
                  <a:srgbClr val="000000"/>
                </a:solidFill>
                <a:latin typeface="Times New Roman"/>
                <a:cs typeface="Times New Roman"/>
              </a:rPr>
              <a:t> = </a:t>
            </a:r>
            <a:r>
              <a:rPr sz="1280" b="1" i="1">
                <a:solidFill>
                  <a:srgbClr val="000000"/>
                </a:solidFill>
                <a:latin typeface="Times New Roman"/>
                <a:cs typeface="Times New Roman"/>
              </a:rPr>
              <a:t>W</a:t>
            </a:r>
            <a:r>
              <a:rPr sz="1280" b="0" i="0">
                <a:solidFill>
                  <a:srgbClr val="000000"/>
                </a:solidFill>
                <a:latin typeface="Times New Roman"/>
                <a:cs typeface="Times New Roman"/>
              </a:rPr>
              <a:t>·</a:t>
            </a:r>
            <a:r>
              <a:rPr sz="1280" b="1" i="1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890" b="1" i="1" baseline="-25000">
                <a:solidFill>
                  <a:srgbClr val="000000"/>
                </a:solidFill>
                <a:latin typeface="Times New Roman"/>
                <a:cs typeface="Times New Roman"/>
              </a:rPr>
              <a:t>1:k</a:t>
            </a:r>
            <a:r>
              <a:rPr sz="1280" b="0" i="0">
                <a:solidFill>
                  <a:srgbClr val="000000"/>
                </a:solidFill>
                <a:latin typeface="Times New Roman"/>
                <a:cs typeface="Times New Roman"/>
              </a:rPr>
              <a:t> + </a:t>
            </a:r>
            <a:r>
              <a:rPr sz="1280" b="1" i="1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  <a:r>
              <a:rPr sz="1280" b="0" i="0">
                <a:solidFill>
                  <a:srgbClr val="000000"/>
                </a:solidFill>
                <a:latin typeface="Times New Roman"/>
                <a:cs typeface="Times New Roman"/>
              </a:rPr>
              <a:t>, in place of steps 2–4.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