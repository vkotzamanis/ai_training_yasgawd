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82e534b1b145aa" /><Relationship Type="http://schemas.openxmlformats.org/officeDocument/2006/relationships/extended-properties" Target="/docProps/app.xml" Id="Rd4ed08f6b4734ddb" /><Relationship Type="http://schemas.openxmlformats.org/officeDocument/2006/relationships/officeDocument" Target="/ppt/presentation.xml" Id="Ra41a28df2ce2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718cbf0ab4379"/>
  </p:sldMasterIdLst>
  <p:notesMasterIdLst>
    <p:notesMasterId xmlns:r="http://schemas.openxmlformats.org/officeDocument/2006/relationships" r:id="Ra2b8cf9c98b24cad"/>
  </p:notesMasterIdLst>
  <p:sldIdLst>
    <p:sldId xmlns:r="http://schemas.openxmlformats.org/officeDocument/2006/relationships" id="256" r:id="R95a60ffdd5b3449c"/>
    <p:sldId xmlns:r="http://schemas.openxmlformats.org/officeDocument/2006/relationships" id="257" r:id="R013b8d7a7b494130"/>
    <p:sldId xmlns:r="http://schemas.openxmlformats.org/officeDocument/2006/relationships" id="258" r:id="R50ee8abfc9b642aa"/>
    <p:sldId xmlns:r="http://schemas.openxmlformats.org/officeDocument/2006/relationships" id="259" r:id="R773cc24c82e640e0"/>
    <p:sldId xmlns:r="http://schemas.openxmlformats.org/officeDocument/2006/relationships" id="260" r:id="R9de48a0c17c448da"/>
    <p:sldId xmlns:r="http://schemas.openxmlformats.org/officeDocument/2006/relationships" id="261" r:id="R5bf3dd6fa54a40c7"/>
    <p:sldId xmlns:r="http://schemas.openxmlformats.org/officeDocument/2006/relationships" id="262" r:id="R4426587a54ac490b"/>
    <p:sldId xmlns:r="http://schemas.openxmlformats.org/officeDocument/2006/relationships" id="263" r:id="Re3382a843df5477f"/>
    <p:sldId xmlns:r="http://schemas.openxmlformats.org/officeDocument/2006/relationships" id="264" r:id="R0d7fc07929184ba0"/>
    <p:sldId xmlns:r="http://schemas.openxmlformats.org/officeDocument/2006/relationships" id="265" r:id="R272f7f96556b4395"/>
    <p:sldId xmlns:r="http://schemas.openxmlformats.org/officeDocument/2006/relationships" id="266" r:id="Rce1812fa0cc24f15"/>
    <p:sldId xmlns:r="http://schemas.openxmlformats.org/officeDocument/2006/relationships" id="267" r:id="R7d5d9e296dce4dd7"/>
    <p:sldId xmlns:r="http://schemas.openxmlformats.org/officeDocument/2006/relationships" id="268" r:id="R63311c50ae53417b"/>
    <p:sldId xmlns:r="http://schemas.openxmlformats.org/officeDocument/2006/relationships" id="269" r:id="R3b8a14321d3d430d"/>
    <p:sldId xmlns:r="http://schemas.openxmlformats.org/officeDocument/2006/relationships" id="270" r:id="R8a85acd4f4f646f7"/>
    <p:sldId xmlns:r="http://schemas.openxmlformats.org/officeDocument/2006/relationships" id="271" r:id="R93d7e7d684f348dc"/>
    <p:sldId xmlns:r="http://schemas.openxmlformats.org/officeDocument/2006/relationships" id="272" r:id="Re8141158784f45e4"/>
    <p:sldId xmlns:r="http://schemas.openxmlformats.org/officeDocument/2006/relationships" id="273" r:id="R574f3afd059e4375"/>
    <p:sldId xmlns:r="http://schemas.openxmlformats.org/officeDocument/2006/relationships" id="274" r:id="R1f7ab2425ec34320"/>
    <p:sldId xmlns:r="http://schemas.openxmlformats.org/officeDocument/2006/relationships" id="275" r:id="Raf49dd227d044acb"/>
    <p:sldId xmlns:r="http://schemas.openxmlformats.org/officeDocument/2006/relationships" id="276" r:id="Rfca7798c3f83444a"/>
    <p:sldId xmlns:r="http://schemas.openxmlformats.org/officeDocument/2006/relationships" id="277" r:id="R84e94cd25f0d4330"/>
    <p:sldId xmlns:r="http://schemas.openxmlformats.org/officeDocument/2006/relationships" id="278" r:id="R39e355c91b8e4267"/>
    <p:sldId xmlns:r="http://schemas.openxmlformats.org/officeDocument/2006/relationships" id="279" r:id="Rc5cb9b3846824443"/>
    <p:sldId xmlns:r="http://schemas.openxmlformats.org/officeDocument/2006/relationships" id="280" r:id="R152020b637b5482c"/>
    <p:sldId xmlns:r="http://schemas.openxmlformats.org/officeDocument/2006/relationships" id="281" r:id="R7d104d672d2b40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b56e710b034f93" /><Relationship Type="http://schemas.openxmlformats.org/officeDocument/2006/relationships/slideMaster" Target="/ppt/slideMasters/slideMaster1.xml" Id="R571718cbf0ab4379" /><Relationship Type="http://schemas.openxmlformats.org/officeDocument/2006/relationships/notesMaster" Target="/ppt/notesMasters/notesMaster1.xml" Id="Ra2b8cf9c98b24cad" /><Relationship Type="http://schemas.openxmlformats.org/officeDocument/2006/relationships/presProps" Target="/ppt/presProps.xml" Id="Rb69a89c3c9604988" /><Relationship Type="http://schemas.openxmlformats.org/officeDocument/2006/relationships/tableStyles" Target="/ppt/tableStyles.xml" Id="R9edffa6c70304160" /><Relationship Type="http://schemas.openxmlformats.org/officeDocument/2006/relationships/slide" Target="/ppt/slides/slide1.xml" Id="R95a60ffdd5b3449c" /><Relationship Type="http://schemas.openxmlformats.org/officeDocument/2006/relationships/slide" Target="/ppt/slides/slide2.xml" Id="R013b8d7a7b494130" /><Relationship Type="http://schemas.openxmlformats.org/officeDocument/2006/relationships/slide" Target="/ppt/slides/slide3.xml" Id="R50ee8abfc9b642aa" /><Relationship Type="http://schemas.openxmlformats.org/officeDocument/2006/relationships/slide" Target="/ppt/slides/slide4.xml" Id="R773cc24c82e640e0" /><Relationship Type="http://schemas.openxmlformats.org/officeDocument/2006/relationships/slide" Target="/ppt/slides/slide5.xml" Id="R9de48a0c17c448da" /><Relationship Type="http://schemas.openxmlformats.org/officeDocument/2006/relationships/slide" Target="/ppt/slides/slide6.xml" Id="R5bf3dd6fa54a40c7" /><Relationship Type="http://schemas.openxmlformats.org/officeDocument/2006/relationships/slide" Target="/ppt/slides/slide7.xml" Id="R4426587a54ac490b" /><Relationship Type="http://schemas.openxmlformats.org/officeDocument/2006/relationships/slide" Target="/ppt/slides/slide8.xml" Id="Re3382a843df5477f" /><Relationship Type="http://schemas.openxmlformats.org/officeDocument/2006/relationships/slide" Target="/ppt/slides/slide9.xml" Id="R0d7fc07929184ba0" /><Relationship Type="http://schemas.openxmlformats.org/officeDocument/2006/relationships/slide" Target="/ppt/slides/slide10.xml" Id="R272f7f96556b4395" /><Relationship Type="http://schemas.openxmlformats.org/officeDocument/2006/relationships/slide" Target="/ppt/slides/slide11.xml" Id="Rce1812fa0cc24f15" /><Relationship Type="http://schemas.openxmlformats.org/officeDocument/2006/relationships/slide" Target="/ppt/slides/slide12.xml" Id="R7d5d9e296dce4dd7" /><Relationship Type="http://schemas.openxmlformats.org/officeDocument/2006/relationships/slide" Target="/ppt/slides/slide13.xml" Id="R63311c50ae53417b" /><Relationship Type="http://schemas.openxmlformats.org/officeDocument/2006/relationships/slide" Target="/ppt/slides/slide14.xml" Id="R3b8a14321d3d430d" /><Relationship Type="http://schemas.openxmlformats.org/officeDocument/2006/relationships/slide" Target="/ppt/slides/slide15.xml" Id="R8a85acd4f4f646f7" /><Relationship Type="http://schemas.openxmlformats.org/officeDocument/2006/relationships/slide" Target="/ppt/slides/slide16.xml" Id="R93d7e7d684f348dc" /><Relationship Type="http://schemas.openxmlformats.org/officeDocument/2006/relationships/slide" Target="/ppt/slides/slide17.xml" Id="Re8141158784f45e4" /><Relationship Type="http://schemas.openxmlformats.org/officeDocument/2006/relationships/slide" Target="/ppt/slides/slide18.xml" Id="R574f3afd059e4375" /><Relationship Type="http://schemas.openxmlformats.org/officeDocument/2006/relationships/slide" Target="/ppt/slides/slide19.xml" Id="R1f7ab2425ec34320" /><Relationship Type="http://schemas.openxmlformats.org/officeDocument/2006/relationships/slide" Target="/ppt/slides/slide20.xml" Id="Raf49dd227d044acb" /><Relationship Type="http://schemas.openxmlformats.org/officeDocument/2006/relationships/slide" Target="/ppt/slides/slide21.xml" Id="Rfca7798c3f83444a" /><Relationship Type="http://schemas.openxmlformats.org/officeDocument/2006/relationships/slide" Target="/ppt/slides/slide22.xml" Id="R84e94cd25f0d4330" /><Relationship Type="http://schemas.openxmlformats.org/officeDocument/2006/relationships/slide" Target="/ppt/slides/slide23.xml" Id="R39e355c91b8e4267" /><Relationship Type="http://schemas.openxmlformats.org/officeDocument/2006/relationships/slide" Target="/ppt/slides/slide24.xml" Id="Rc5cb9b3846824443" /><Relationship Type="http://schemas.openxmlformats.org/officeDocument/2006/relationships/slide" Target="/ppt/slides/slide25.xml" Id="R152020b637b5482c" /><Relationship Type="http://schemas.openxmlformats.org/officeDocument/2006/relationships/slide" Target="/ppt/slides/slide26.xml" Id="R7d104d672d2b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bcd918efc144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0b65780d4f4419" /><Relationship Type="http://schemas.openxmlformats.org/officeDocument/2006/relationships/notesMaster" Target="/ppt/notesMasters/notesMaster1.xml" Id="R48b1c777439f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0821ddd56414e" /><Relationship Type="http://schemas.openxmlformats.org/officeDocument/2006/relationships/notesMaster" Target="/ppt/notesMasters/notesMaster1.xml" Id="R6fb55a0fbf5941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05d51a7fae4761" /><Relationship Type="http://schemas.openxmlformats.org/officeDocument/2006/relationships/notesMaster" Target="/ppt/notesMasters/notesMaster1.xml" Id="Rffbc118d9f0a48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c93e6be1141d1" /><Relationship Type="http://schemas.openxmlformats.org/officeDocument/2006/relationships/notesMaster" Target="/ppt/notesMasters/notesMaster1.xml" Id="R4879f923066440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194be230f5417a" /><Relationship Type="http://schemas.openxmlformats.org/officeDocument/2006/relationships/notesMaster" Target="/ppt/notesMasters/notesMaster1.xml" Id="R42cbc6c88c654a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87b67c864c442e" /><Relationship Type="http://schemas.openxmlformats.org/officeDocument/2006/relationships/notesMaster" Target="/ppt/notesMasters/notesMaster1.xml" Id="R1ee5bbfa8c064c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492ea3202840ad" /><Relationship Type="http://schemas.openxmlformats.org/officeDocument/2006/relationships/notesMaster" Target="/ppt/notesMasters/notesMaster1.xml" Id="R67477b4ffacd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80f83d28ee40c5" /><Relationship Type="http://schemas.openxmlformats.org/officeDocument/2006/relationships/notesMaster" Target="/ppt/notesMasters/notesMaster1.xml" Id="Rd6e1647a7cb944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aaa75024874774" /><Relationship Type="http://schemas.openxmlformats.org/officeDocument/2006/relationships/notesMaster" Target="/ppt/notesMasters/notesMaster1.xml" Id="Rd5deccab85744e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dd208a6d1a4d3c" /><Relationship Type="http://schemas.openxmlformats.org/officeDocument/2006/relationships/notesMaster" Target="/ppt/notesMasters/notesMaster1.xml" Id="Rec2a0de552904f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87488358b94cec" /><Relationship Type="http://schemas.openxmlformats.org/officeDocument/2006/relationships/notesMaster" Target="/ppt/notesMasters/notesMaster1.xml" Id="Rbb1429c28cbc4e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371936a12849cd" /><Relationship Type="http://schemas.openxmlformats.org/officeDocument/2006/relationships/notesMaster" Target="/ppt/notesMasters/notesMaster1.xml" Id="Recf8a1419fbf41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d7523004744403" /><Relationship Type="http://schemas.openxmlformats.org/officeDocument/2006/relationships/notesMaster" Target="/ppt/notesMasters/notesMaster1.xml" Id="Ra748801b9e894a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cb66bb9bd404fec" /><Relationship Type="http://schemas.openxmlformats.org/officeDocument/2006/relationships/notesMaster" Target="/ppt/notesMasters/notesMaster1.xml" Id="Rae22c19a7ec24c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16ba7db5f74d69" /><Relationship Type="http://schemas.openxmlformats.org/officeDocument/2006/relationships/notesMaster" Target="/ppt/notesMasters/notesMaster1.xml" Id="R670b0b48ecba4d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8ef55e21bf402d" /><Relationship Type="http://schemas.openxmlformats.org/officeDocument/2006/relationships/notesMaster" Target="/ppt/notesMasters/notesMaster1.xml" Id="R0e3defc4addf46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d3e607f5854abd" /><Relationship Type="http://schemas.openxmlformats.org/officeDocument/2006/relationships/notesMaster" Target="/ppt/notesMasters/notesMaster1.xml" Id="R8bec4ca1801146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ec36d371384c33" /><Relationship Type="http://schemas.openxmlformats.org/officeDocument/2006/relationships/notesMaster" Target="/ppt/notesMasters/notesMaster1.xml" Id="R27570f9d814442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7658dd30604a87" /><Relationship Type="http://schemas.openxmlformats.org/officeDocument/2006/relationships/notesMaster" Target="/ppt/notesMasters/notesMaster1.xml" Id="R77828a621bb349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2c30cffa284717" /><Relationship Type="http://schemas.openxmlformats.org/officeDocument/2006/relationships/notesMaster" Target="/ppt/notesMasters/notesMaster1.xml" Id="R57d46d9927074a5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624fb29bd0403a" /><Relationship Type="http://schemas.openxmlformats.org/officeDocument/2006/relationships/notesMaster" Target="/ppt/notesMasters/notesMaster1.xml" Id="R76d485ade0064a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cb1259e49c4ee5" /><Relationship Type="http://schemas.openxmlformats.org/officeDocument/2006/relationships/notesMaster" Target="/ppt/notesMasters/notesMaster1.xml" Id="R2c6caa2a44e141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9837ea7ec2463f" /><Relationship Type="http://schemas.openxmlformats.org/officeDocument/2006/relationships/notesMaster" Target="/ppt/notesMasters/notesMaster1.xml" Id="R48b7557e69e146c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8488b76f1f74484" /><Relationship Type="http://schemas.openxmlformats.org/officeDocument/2006/relationships/notesMaster" Target="/ppt/notesMasters/notesMaster1.xml" Id="R2e7a71292ce74b5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4edb200aefe416c" /><Relationship Type="http://schemas.openxmlformats.org/officeDocument/2006/relationships/notesMaster" Target="/ppt/notesMasters/notesMaster1.xml" Id="R8f35aaffa5ba4b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81c883f65b844db" /><Relationship Type="http://schemas.openxmlformats.org/officeDocument/2006/relationships/notesMaster" Target="/ppt/notesMasters/notesMaster1.xml" Id="Rd8de3bf2fde4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explicitly retract the earlier simplification that a neuron calculates what comes next. The section follows a single numerical trace through one toy decoder block.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neuron is a scalar-valued computational unit. Keep the distinction between the pre-activation u and activation a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https://www.deeplearningbook.org/contents/mlp.html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second column of the arithmetic. Emphasize that the matrix is just many neuron dot products evaluated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https://www.deeplearningbook.org/contents/mlp.html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comparison to prevent the false idea that one global activation function governs every operation in the model. SwiGLU will be calculated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https://arxiv.org/abs/1606.08415</a:t>
            </a:r>
          </a:p>
          <a:p xmlns:a="http://schemas.openxmlformats.org/drawingml/2006/main">
            <a:r>
              <a:t>- https://arxiv.org/abs/2002.05202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precise argument for nonlinear activation functions. It replaces the earlier rectification/affine-collapse wording with an actual algebraic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https://www.deeplearningbook.org/contents/mlp.html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width is not a single universal number in a Transformer. The universal-approximation theorem is an existence statement and says nothing by itself about optimization, sample efficiency, or generalization. Exact counts depend on biases, GQA/MQA, and weight tying.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  <a:p xmlns:a="http://schemas.openxmlformats.org/drawingml/2006/main">
            <a:r>
              <a:t>- https://arxiv.org/abs/2002.05202</a:t>
            </a:r>
          </a:p>
          <a:p xmlns:a="http://schemas.openxmlformats.org/drawingml/2006/main">
            <a:r>
              <a:t>- https://doi.org/10.1007/BF02551274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establishes the distinction between a computation and learning that computation. Later slides instantiate the loss gradient numerically.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https://www.deeplearningbook.org/contents/mlp.html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 rows are deliberately small toy values. The one-hot expression is mathematically equivalent to row lookup but implementations use indexed gathering.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https://www.deeplearningbook.org/contents/representation.html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critical terminology correction: embedding is the initial learned lookup; hidden state/residual-stream vector is the contextual representation produced by the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positional mechanisms vary. The toy uses additive vectors solely to keep the calculation hand-checkable; modern decoder-only architectures often use RoPE.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  <a:p xmlns:a="http://schemas.openxmlformats.org/drawingml/2006/main">
            <a:r>
              <a:t>- https://arxiv.org/abs/2104.09864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RMSNorm omits LayerNorm's mean-centering. The toy chooses unit-RMS vectors to avoid hiding the attention calculation behind normalization arithmetic.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https://arxiv.org/abs/1607.06450</a:t>
            </a:r>
          </a:p>
          <a:p xmlns:a="http://schemas.openxmlformats.org/drawingml/2006/main">
            <a:r>
              <a:t>- https://arxiv.org/abs/1910.07467</a:t>
            </a:r>
          </a:p>
          <a:p xmlns:a="http://schemas.openxmlformats.org/drawingml/2006/main">
            <a:r>
              <a:t>- https://proceedings.mlr.press/v119/xiong20b.html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to establish the row-major convention used throughout the remaining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query/key/value language is an interpretive gloss. Keep returning to the exact operations: three learned linear projections of the same normalized hidden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the audience to verify one multiplication: h(cat)WQ = [1,0]. The matrices are constructed for transparent arithmetic, not claimed to resemble trained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 matrix is not yet an attention distribution. It contains unnormalized compatibility scores and still includes future 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mask is added before softmax. The negative infinity entries become exact zeros in ideal arithmetic. Explain stable softmax as a numerical reformulation, not a different probability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corrects the common retrieval metaphor. Attention weights mix learned value vectors; they do not copy a word or database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Heads need not correspond to human-readable relations. They are independent learned projections that may specialize, overlap, or distribute functions across the network.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update interpretation of residual connections. The direct path is also important for optimization, but avoid claiming that it guarantees stable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https://arxiv.org/abs/1512.03385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toy uses inner width f=3 and no biases. Real MLP inner widths are much larger and architecture-dependent. SwiGLU uses three learned matrices rather than one scalar activation per neuron in the simplest textbook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https://arxiv.org/abs/2002.05202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synthesis slide. Be explicit that the original 2017 Transformer used post-norm; many later LLMs use pre-norm or RMSNorm 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  <a:p xmlns:a="http://schemas.openxmlformats.org/drawingml/2006/main">
            <a:r>
              <a:t>- https://proceedings.mlr.press/v119/xiong20b.html</a:t>
            </a:r>
          </a:p>
          <a:p xmlns:a="http://schemas.openxmlformats.org/drawingml/2006/main">
            <a:r>
              <a:t>- https://arxiv.org/abs/1910.07467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logit is an unnormalized score, not a probability. The vocabulary projection is the first point where one scalar is produced per candidate 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https://arxiv.org/abs/1608.05859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stable softmax in the equation. Temperature changes the entropy of the categorical distribution but positive temperature does not change logit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https://www.deeplearningbook.org/contents/mlp.html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closes the training loop mathematically. The update shown is plain SGD for transparency; production training commonly uses adaptive optimizers and many examples per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https://www.deeplearningbook.org/contents/mlp.html</a:t>
            </a:r>
          </a:p>
          <a:p xmlns:a="http://schemas.openxmlformats.org/drawingml/2006/main">
            <a:r>
              <a:t>- https://arxiv.org/abs/1412.6980</a:t>
            </a:r>
          </a:p>
          <a:p xmlns:a="http://schemas.openxmlformats.org/drawingml/2006/main">
            <a:r>
              <a:t>- https://arxiv.org/abs/1711.05101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the network from the decoding software around it. The network returns logits; filtering, random sampling, stopping criteria, and cache management are runtime procedures.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https://arxiv.org/abs/1904.09751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students to classify every object as parameter, activation, or runtime state. The table is designed to serve as a study reference after the lecture.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https://arxiv.org/abs/1706.03762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1c6846d3f47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1246cac5c14d5c" /><Relationship Type="http://schemas.openxmlformats.org/officeDocument/2006/relationships/slideLayout" Target="/ppt/slideLayouts/slideLayout1.xml" Id="R64b26502ab3e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26502ab3e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b00b396a1461f" /><Relationship Type="http://schemas.openxmlformats.org/officeDocument/2006/relationships/notesSlide" Target="/ppt/notesSlides/notesSlide1.xml" Id="Rcbc530abd167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751129ecb416d" /><Relationship Type="http://schemas.openxmlformats.org/officeDocument/2006/relationships/notesSlide" Target="/ppt/notesSlides/notesSlide2.xml" Id="Rbaa0b74e33fe4d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05cff3a54c36" /><Relationship Type="http://schemas.openxmlformats.org/officeDocument/2006/relationships/notesSlide" Target="/ppt/notesSlides/notesSlide3.xml" Id="Rc9446879309742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d6d85e3784ad3" /><Relationship Type="http://schemas.openxmlformats.org/officeDocument/2006/relationships/notesSlide" Target="/ppt/notesSlides/notesSlide4.xml" Id="R0c065b20b6a74a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3d653ccc54e3f" /><Relationship Type="http://schemas.openxmlformats.org/officeDocument/2006/relationships/notesSlide" Target="/ppt/notesSlides/notesSlide5.xml" Id="R81e08841c8f3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6a2ef750c4f97" /><Relationship Type="http://schemas.openxmlformats.org/officeDocument/2006/relationships/notesSlide" Target="/ppt/notesSlides/notesSlide6.xml" Id="R0e9d554aea6749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9955135ab463f" /><Relationship Type="http://schemas.openxmlformats.org/officeDocument/2006/relationships/notesSlide" Target="/ppt/notesSlides/notesSlide7.xml" Id="R9d3907d67e6d43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eb3e7838e40e6" /><Relationship Type="http://schemas.openxmlformats.org/officeDocument/2006/relationships/notesSlide" Target="/ppt/notesSlides/notesSlide8.xml" Id="Rf85b8ef4348d40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a8c770d864546" /><Relationship Type="http://schemas.openxmlformats.org/officeDocument/2006/relationships/notesSlide" Target="/ppt/notesSlides/notesSlide9.xml" Id="R3debd2b68d4748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0736aecf04e4e" /><Relationship Type="http://schemas.openxmlformats.org/officeDocument/2006/relationships/notesSlide" Target="/ppt/notesSlides/notesSlide10.xml" Id="R7671f358768e4f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1b90b904f4d7e" /><Relationship Type="http://schemas.openxmlformats.org/officeDocument/2006/relationships/notesSlide" Target="/ppt/notesSlides/notesSlide11.xml" Id="R6a99a40cd15e42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f6d999c2c41e4" /><Relationship Type="http://schemas.openxmlformats.org/officeDocument/2006/relationships/notesSlide" Target="/ppt/notesSlides/notesSlide12.xml" Id="Rec4272df180044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69b0c88b44797" /><Relationship Type="http://schemas.openxmlformats.org/officeDocument/2006/relationships/notesSlide" Target="/ppt/notesSlides/notesSlide13.xml" Id="R5119a4b7f2214e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1ab19aeed4913" /><Relationship Type="http://schemas.openxmlformats.org/officeDocument/2006/relationships/notesSlide" Target="/ppt/notesSlides/notesSlide14.xml" Id="R4028a20905f34b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71b88cbf54570" /><Relationship Type="http://schemas.openxmlformats.org/officeDocument/2006/relationships/notesSlide" Target="/ppt/notesSlides/notesSlide15.xml" Id="Rfbe5e2e64fcd49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0b0864ae445f0" /><Relationship Type="http://schemas.openxmlformats.org/officeDocument/2006/relationships/notesSlide" Target="/ppt/notesSlides/notesSlide16.xml" Id="R64723b7b80ad42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7072d69f240e5" /><Relationship Type="http://schemas.openxmlformats.org/officeDocument/2006/relationships/notesSlide" Target="/ppt/notesSlides/notesSlide17.xml" Id="Re5e1cd6811ef41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700524b6f4bde" /><Relationship Type="http://schemas.openxmlformats.org/officeDocument/2006/relationships/notesSlide" Target="/ppt/notesSlides/notesSlide18.xml" Id="Ree9d628161ae4c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75918014545e4" /><Relationship Type="http://schemas.openxmlformats.org/officeDocument/2006/relationships/notesSlide" Target="/ppt/notesSlides/notesSlide19.xml" Id="Re6b5e1969bde4b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2aac61f214e0a" /><Relationship Type="http://schemas.openxmlformats.org/officeDocument/2006/relationships/notesSlide" Target="/ppt/notesSlides/notesSlide20.xml" Id="Rd4058f3ecc6f41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3906c177d47a9" /><Relationship Type="http://schemas.openxmlformats.org/officeDocument/2006/relationships/notesSlide" Target="/ppt/notesSlides/notesSlide21.xml" Id="Ra1482653316f41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ec0370fe24db6" /><Relationship Type="http://schemas.openxmlformats.org/officeDocument/2006/relationships/notesSlide" Target="/ppt/notesSlides/notesSlide22.xml" Id="Reed981abac384d0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83c3cc828416e" /><Relationship Type="http://schemas.openxmlformats.org/officeDocument/2006/relationships/notesSlide" Target="/ppt/notesSlides/notesSlide23.xml" Id="R63d38a7831824b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efe1252b646d4" /><Relationship Type="http://schemas.openxmlformats.org/officeDocument/2006/relationships/notesSlide" Target="/ppt/notesSlides/notesSlide24.xml" Id="R9572babf34c5468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6b3f33c5041ab" /><Relationship Type="http://schemas.openxmlformats.org/officeDocument/2006/relationships/notesSlide" Target="/ppt/notesSlides/notesSlide25.xml" Id="R06c79f4db3f646f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0b6398cf34cac" /><Relationship Type="http://schemas.openxmlformats.org/officeDocument/2006/relationships/notesSlide" Target="/ppt/notesSlides/notesSlide26.xml" Id="Rb600e118c7004b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1AEF8A-4830-4CC3-90A3-C841E35D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7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Neuron Is Not a Next-Token Predictor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7F99A-8E6D-44AF-B8B4-2CCD029C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BA0F0-1B4F-4B7D-9050-5009F140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08483-5E90-4633-B11C-DA32110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7785A-40D3-4230-B47E-5A7C8A0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The prediction appears only after many vector transformations and one vocabulary-wide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DBB84-DF17-4F94-AC03-1F4C3664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token ID  →  embedding  →  N decoder blocks  →  logits  →  probability  →  sampled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97B08-E81C-4999-8254-D7EC9A9A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4955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19A65-EF67-42F6-A802-AC154932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1 · 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F1AAF-5BF4-48FD-9561-91AD6B0B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266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cat → ID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C08D3-D6B3-4A49-A902-7843ED5D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24955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590C8-3736-4A74-9CDA-29C969D8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2 · REPRESENT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333A4-C959-4F15-AEE6-611FA26A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266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E[2,:] → h⁽⁰⁾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64570-6C58-45C6-9271-E202374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955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59199-9CBA-4B85-BCA0-D3639F26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3 · CONTEXTUALIZE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042EA-F9C3-46CE-B9BF-377BFF8C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2266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 + MLP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5E40E-C3A2-4CF8-841C-C0A43B51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24955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5779C-E4B9-4F1C-B455-7FFB02C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4 · PREDICT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41F1C-14B1-45EE-88B9-7413659E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2266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z → softmax(z)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5ECBB-EC2E-4B57-863D-870EA887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0439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12"/>
              </a:spcAft>
              <a:buNone/>
              <a:def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Scientific correction: </a:t>
            </a: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single neuron returns one scalar activation; the full network produces the next-token distribution.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12"/>
              </a:spcAft>
              <a:buNone/>
              <a:def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Worked trace: </a:t>
            </a: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every number shown for &lt;bos&gt; the cat → sat is generated from matrices defined in this section.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B5722-C6B9-440E-A840-D1C21CDF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F2D1F-5643-4426-A6FD-D2EE649D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C806C0-B3D3-4243-B5DB-FB4FB1F5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9EC01-1FDB-4DB4-8A20-E27C0B5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1840519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055DED-02AA-4D19-9884-1766E7F0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7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One Neuron Returns One Scalar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A14B7-E97E-46A6-BAED-E0C9A1BC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3F173-9238-4AD8-88C0-F6B4AFB0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6D4FB-15C5-40C8-8975-E3A9514C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BBE64-0D05-49AB-B75C-54698306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Input: one vector. Output: one number. The weights select a direction; the bias shifts the threshold.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EB740-582A-4400-9256-EB782E2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u = wᵀx + b        ;        a = φ(u)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F5EF0-0944-4603-A6A4-A8DEC7F5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rPr>
              <a:t>x,w ∈ ℝᵈ     and     b,u,a ∈ 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FDCDE-6B8B-4D4F-B1F8-154CE3A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2766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ADFE6-9FDD-426F-A1D3-9928E8FD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AFFINE SCORE · 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2F512-EA9A-4EA6-ABEF-E0CF5285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weighted sum plus a learned, input-independent offset. Before φ, the score is unbounded.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2B7FE-224F-4D82-9D2F-8A703EFB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32766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2A432-8479-40C9-95E6-A499DB3D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NONLINEAR RESPONSE ·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579E2-B673-4939-855E-AE79A227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activation function changes the geometry of the map. It is applied to u, producing one scalar.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34C3D-96F7-49CB-926B-C55E3E07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2766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5CC1C-A804-46EB-87A5-C0867E07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304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WHAT IT IS NOT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4F497-BECA-4212-9ED9-F34BF3C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neuron does not retrieve “cat,” decide morality, or emit the next token. Those are network-level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CD39E-8097-4E34-BEBA-ED322F4A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Bias, b: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learned offset—not a prompt-specific penalty or bonus.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Activation, a: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one component of a layer’s output vector; later layers consume the whole vector.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47E93-B19F-450F-A0D1-0122DEB0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1D726-69C2-4844-A7A6-125C5A17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AAFDC-30B8-45F8-A6AC-BAF4EC72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68960-5B1D-444C-AEF9-E33D0912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scalar unit</a:t>
            </a:r>
          </a:p>
        </p:txBody>
      </p:sp>
    </p:spTree>
    <p:extLst>
      <p:ext uri="{BB962C8B-B14F-4D97-AF65-F5344CB8AC3E}">
        <p14:creationId xmlns:p14="http://schemas.microsoft.com/office/powerpoint/2010/main" val="1942070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2D708A-E681-4A21-AEDD-EB900651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4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Layer Evaluates Many Neurons at Once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AA225-2A1E-4B88-BAE0-594CE219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C3AFB-2ECE-40BD-A4A7-307563CD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E3E41-A312-45B6-B647-93DAF071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13FBD-A4B6-447A-A8F1-301BF180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Stack each neuron’s weight vector as a row: one matrix multiplication returns every pre-activation.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F81BA-1FE4-4049-88BC-629FF7F6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u = Wx + b        ;        a = φ(u)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11DA1-CC48-4A87-8B9A-DD327DF3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rPr>
              <a:t>W ∈ ℝ³ˣ⁴,  x ∈ ℝ⁴,  b,u,a ∈ ℝ³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4CC1E-B9BB-455F-BB11-A3D07A69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Worked input: cat 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FFC39-1D4E-4E6A-8F0C-18C0B9DD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6E3AA5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x = [0, 0, 2, 0]ᵀ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44D26-6B7B-43F9-8D2E-AB48353A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670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A74B2-17B9-43C5-BBDD-E1CB0830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Three neurons = three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A65B8-BD75-4EFA-98C1-A3C308FA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AE4A7-3A8D-4DC8-B853-50923033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051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DCA2F-C8EA-4BED-8F28-36015A45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860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FDA1C-8E70-4E37-A296-7092F816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05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ED0DC6-63F0-4259-8164-AB4DDD35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754FD-5C4C-4970-A793-9D8F90DB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05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B03CB-1EC4-46AE-9BD0-C46FFCC0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960E3-F843-4D46-990B-B52F6E87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BBCEA-2FA9-4325-98A4-127EB1B1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8166D-5FBE-423A-915A-467EA8EB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07026-F676-41DF-A73D-1A0D8032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E20C7-029D-407E-8A81-D514205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051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96699-FC05-4B2A-A8B6-9C109A4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259D52-ED2D-407B-9539-05FE31BA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D71BF-9EDF-4843-AE99-79026160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310D1-F885-4083-B14C-6E691258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48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851E2-AF21-4D21-90CF-CD44A2C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EB43E-D059-4F6E-B675-80BD81D1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73896C-6067-4AE3-8330-D061779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316D2-C1E6-47EE-B237-F0839AB6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131E2-7305-456D-BE23-C48F1AEA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DB365B-80EF-4FEF-8FC8-49CB59A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B4418A-12A2-4238-AC35-4D7E8DEF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289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BFD969-B8F3-4299-9D7F-405D769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−0.1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716098-7168-4CED-8CDC-258D5C44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69EE3A-305A-4E88-B750-DC7BF8B8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4279F6-046F-4235-8D70-7A0F5B71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718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71B8CF-7D4C-42D8-A9B2-2E0DC3C7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2A26FD-7B4F-437D-9B1E-43BF4097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29BFDB-0AEF-4EDF-B6FF-724CEE9D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90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CBE344-FDBD-409E-BD24-6D968392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677AE8-D755-4E24-A671-1F33484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−0.2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DF0E19-25FF-4F80-80ED-4127B1B5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A5E6B7-DBC5-45F1-837E-E296C4F9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90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0733C5-4FE0-44F6-8E8A-C485A8F7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12C38C-5DBF-4CE1-8722-2C187178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90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F90B3F-62BC-4643-A002-27048790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4F7547-57C5-44D7-BA3F-24CF9A75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338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369A41-D74C-4AED-8943-6C096C07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147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DDED68-C825-4459-90D6-9DB6B61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33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5F4708-305B-4B25-B495-93142196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EDD23F-4B65-425A-BAA7-33139F7B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6ED94E-DA89-4C78-880A-9677CD9C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26569A-D74B-4C69-B800-F8D11CC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401BCF-68C4-463C-B42C-3EE0430D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147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18754D-AC28-405C-87BB-F7021730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−0.1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F7FA88-9EC2-4D97-B419-16074B6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5319B6-370B-4A62-B192-7F24E2E9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338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A0EBEE-47D9-4AB9-AAA9-DB787239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670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EDE9E8-3A04-4C45-A236-4068CA1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8194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D8A278-F97E-4C8F-B770-6FAD0B29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RESULT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1245E5-6150-46FA-B9A5-4DB63971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25908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u = [0.7, −0.2, 1.2]ᵀ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ReLU(u) = [0.7, 0, 1.2]ᵀ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7AC2AE-E686-4010-87E3-B498578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0591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Layer output, a: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vector containing one scalar activation per unit.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Row interpretation: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row r of W contains the weights of unit r; columns align with input features.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Hint: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token representation is transformed by the layer as a vector; it does not pass serially through individual neurons.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689F95-CAF6-4551-A5B3-1388F34F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E0FC84-164D-4E70-94D8-7DCCC9AA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110223-3F88-431D-8264-17CD5F1C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EF8FD5-1866-4B19-B355-BF05BFA1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e(cat) ∈ ℝ⁴</a:t>
            </a:r>
          </a:p>
        </p:txBody>
      </p:sp>
    </p:spTree>
    <p:extLst>
      <p:ext uri="{BB962C8B-B14F-4D97-AF65-F5344CB8AC3E}">
        <p14:creationId xmlns:p14="http://schemas.microsoft.com/office/powerpoint/2010/main" val="1166692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723803-72FA-4543-9C4E-1E8971DB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φ Is a Nonlinearity, Not an On/Off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C5530-A8B9-4739-B209-3C5D1B09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148BD-2E05-42BB-96D1-4CEFBF9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F4EBF-AADE-4637-B94F-8CD7AAE4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AA5BC-B9CF-49D4-AA3A-EBCA04E1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Different components may use different activation functions; φ is applied elementwise to a vector.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25A0-4CC6-4B13-BDC4-1790B36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D352F-1537-4BC0-BD3E-15A4FA77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Function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63F36-AAB7-4686-B0F2-B9AAABF8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049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1D0C1-7E2D-4AEA-A861-E73842B3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240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2397C-507E-437F-B183-A7AB0B5D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049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9F400-EB4E-4C19-9BDF-7EA961D6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Derivative /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F7E4A-40C2-4853-B912-98BC294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135B1-05A0-4526-A576-A28CD630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D2CA4-0E41-4E97-B222-7A41818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8C887-1D82-4399-B1E0-B1CCC96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ReLU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18132-1497-4895-A08E-45E03546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383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5745D2-B497-4EA6-825E-F37FF875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574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max(0,u)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DDEB7-6B0E-41C1-9E1F-E812CB90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14490-5DEB-4B55-95CA-B85FA6E5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 or 1 (except u=0)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88DD1-6E62-41D5-8E46-BC79C92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45337-40CF-4DFA-A3DE-AC06DAAB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hard rectification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D5146-688F-4058-9C1F-F3806140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6B113-75CA-47AC-9025-46841A7D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GELU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CE9A5-C597-4C82-BD37-A66E1F7B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0A6B0-1BBA-4A56-8DC8-F6CCF437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u Φ(u)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94476-CA71-4FF0-9DD5-48598833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0C69F-6854-4705-AFEE-F99A1199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908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smooth, non-monotone derivative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65B60-1BEE-400F-AC89-9EAE48B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B27B4-BED9-48D2-BCAA-15F93647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input weighted by Gaussian CDF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132B8-3928-49A9-B8C6-B74AAA6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C7962-3667-4E40-A2C7-0A4F6C29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SiLU / Swish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CB4DE2-5C6C-454E-A26B-82129C4D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16F0A-9AAD-46DA-83BB-7F11618F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242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u σ(u)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24AC54-AE68-45C2-A6F0-739B4E56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B00931-93D4-471B-888F-4ECEE965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242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σ(u)+uσ(u)(1−σ(u))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A0D8E8-AF3E-42E5-A75E-A4C6AC07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924837-7E6E-4948-8528-4D03F746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smooth self-gating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9E4C62-8547-440B-9BC5-4B98A29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FAFD7D-F43B-4219-97B4-45552C99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SwiGLU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DBB84B-E8A4-4EBD-9EEE-C43BEAE2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385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BF0567-285E-429E-8A43-68485FE5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57600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SiLU(xWg) ⊙ (xWu)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F8C9E4-55D5-4186-AB93-B5B32286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0BD517-10D9-4E8A-8D8C-7DC2DF49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two learned projections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28E67B-5F8D-4D1B-B1AB-548249AB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647DB0-0176-459E-804F-478C36B0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gated Transformer MLP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AA1ECB-06B8-43DF-84C6-BBEB83A2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rPr>
              <a:t>φ([u₁,u₂,…,uₘ]) = [φ(u₁),φ(u₂),…,φ(uₘ)]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7C6F0E-D405-4991-88EB-962EB1EB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61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Correction: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negative activations do not “pollute” positive ones, and large activations do not by themselves cause repetition.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Where φ lives: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primarily inside the feed-forward/MLP sublayer—not inside the attention softmax, which serves a different role.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D9B9CE-BCCB-45E3-9C5C-D40B173E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EA4069-B735-4F97-BA42-761E5FBF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6A41BE-DF4B-40B9-A91C-FFB8712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AA9142-3E79-4487-A577-28226429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φ(·)</a:t>
            </a:r>
          </a:p>
        </p:txBody>
      </p:sp>
    </p:spTree>
    <p:extLst>
      <p:ext uri="{BB962C8B-B14F-4D97-AF65-F5344CB8AC3E}">
        <p14:creationId xmlns:p14="http://schemas.microsoft.com/office/powerpoint/2010/main" val="1813628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3307E0-9BBA-49FF-A0C9-3C8D105A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4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Without φ, Depth Collapses Algebraically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ACA46-4D87-4B8E-884D-E6F77957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7338C-3385-40A9-A37E-B40296FA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4B9A3-4F2E-43CD-B415-A941A9E3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51CA6-94E4-4202-B600-39A48EDF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Two affine layers without a nonlinearity are exactly equivalent to one affine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054F9-8BCF-48D3-9261-8E4F20AB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49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h¹ = W₁x + b₁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BCEF4-BD28-47BC-9AEF-FF0703D3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6667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07A4B-E2CC-47D6-AF32-CF1E421F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h² = W₂h¹ + b₂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38A30-9EC7-45DD-B7FE-121F7DCA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6667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F2848-B1D0-4982-9107-37A4D3F6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A3133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h² = W₂(W₁x+b₁)+b₂ = (W₂W₁)x + (W₂b₁+b₂)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02DE4-06EA-45DB-A500-BEDC52E8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338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Define W* = W₂W₁ and b* = W₂b₁+b₂  ⇒  h² = W*x+b*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8E952-F053-4AA1-BA04-A59B21DA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Representational consequence: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without nonlinearities, adding layers does not add nonlinear decision boundaries.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With φ: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network composes different local transformations, so depth can construct hierarchical features.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7AF7C-0D1D-40FA-880A-61A6CA1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F2C3F-1009-42E6-AE71-83091CB8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9DDE6-8A7C-4BBB-AD89-160ECADB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E40AB-ACA9-4659-AE62-F3663812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why φ matters</a:t>
            </a:r>
          </a:p>
        </p:txBody>
      </p:sp>
    </p:spTree>
    <p:extLst>
      <p:ext uri="{BB962C8B-B14F-4D97-AF65-F5344CB8AC3E}">
        <p14:creationId xmlns:p14="http://schemas.microsoft.com/office/powerpoint/2010/main" val="19736669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4F7C1E-420F-4682-B4C1-44396C93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Width and Depth Change Different Capacities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7F979-7F9D-4835-B1DC-F47B8EE6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142A5-9903-4C1B-9FBF-B6A5D8BF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3B4E9-92E8-4649-AC1B-DB6F7A0B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D6286-DEE8-42CF-B8AF-B40F87D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Width describes how much state is processed in parallel; depth describes how many transformations are composed.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82C7E-EC10-43B6-8304-92A1F326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3314700" cy="16954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81A20-AB87-4956-B3FD-70AAEAC6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WIDTH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EC158-1D31-44E7-A86E-D1D8465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86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d: residual-stream width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f: MLP inner width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 · dₕ: total attention width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DEF53-57C2-45A5-B4B9-652C1DDD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66850"/>
            <a:ext cx="3314700" cy="16954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F7A55-CFF7-48AA-A3E0-4205DD69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4305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DEPTH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1E9C8-154B-47E1-A3AC-F371F9D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3086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N: number of decoder blocks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Each block adds attention + MLP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Longer computation 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898C3-BC91-4671-AC6E-CBDC4D26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314700" cy="16954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C8C38-7811-4941-831B-6D87FE78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4305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SEQUENCE LENGTH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82157-C7CC-48FE-9589-68F0F9E0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3086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k: number of token positions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Not model width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 scores scale as k²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C1E762-23C2-4A9D-B9BB-D162141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parameters per decoder block  ≈  4d²  +  3df  +  normalization terms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B9075-2A8A-4EC2-8B03-6F05B59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71562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6"/>
              </a:spcAft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 projections: </a:t>
            </a: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WQ, WK, WV, WO contribute approximately 4d² when all heads together span width d.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6"/>
              </a:spcAft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SwiGLU MLP: </a:t>
            </a: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gate, up, and down projections contribute approximately 3df.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6"/>
              </a:spcAft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Universal approximation: </a:t>
            </a: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sufficient width can approximate broad function classes; this is an existence result, not a guarantee of trainability or generalization.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6"/>
              </a:spcAft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Boundary: </a:t>
            </a: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exact counts depend on biases, grouped-query attention, vocabulary embeddings, output tying, and architecture-specific choices.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FEFC7-197E-4561-B3A8-0A9C6B2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9781A-1FF3-4815-ABDD-61BD32C3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DF6CF-9742-4C4C-BE3B-D8F28B7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1170A-E966-49BE-B060-AC599606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d = 4</a:t>
            </a:r>
          </a:p>
        </p:txBody>
      </p:sp>
    </p:spTree>
    <p:extLst>
      <p:ext uri="{BB962C8B-B14F-4D97-AF65-F5344CB8AC3E}">
        <p14:creationId xmlns:p14="http://schemas.microsoft.com/office/powerpoint/2010/main" val="895683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C9831A-9387-4A7E-9706-20C777C1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Training Differentiates the Same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1636E-1C99-4F4D-9A77-AE508761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C6186-B567-4FAA-BC16-7E17FE5A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3A22D-AE9F-4F46-A7B2-E343CAB2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2AC0A-42C1-42D7-8A20-4CB9D6DC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A forward pass composes functions; backpropagation applies the chain rule to that composition.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19125-B8AC-480E-80F7-2CC3220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668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rPr>
              <a:t>ŷ = fθ(x) = fᴸ( fᴸ⁻¹( … f¹(x) … 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B676B-FD78-43D7-805F-993E7410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ℒ(θ) = −log Pθ(y | 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D53EB-1A90-41AB-8E1C-BF7F420E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∂ℒ/∂W¹ = (∂ℒ/∂hᴸ)(∂hᴸ/∂hᴸ⁻¹)…(∂h¹/∂W¹)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47F46-B4CB-4279-97C1-7268CC45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495300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1FACE-375B-4EB4-A788-A0057788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72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FORWARD PASS · inference and training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CA76B-AFA1-4230-9F25-B94D4F1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724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Evaluate activations using the current parameters θ. Training may process all target positions in parallel under causal masking.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CF13F-92AC-4D9E-AFDA-F8891473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953000" cy="1504950"/>
          </a:xfrm>
          <a:prstGeom xmlns:a="http://schemas.openxmlformats.org/drawingml/2006/main" prst="roundRect">
            <a:avLst>
              <a:gd name="adj" fmla="val 6329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B05A8-8929-4AF7-B55E-5B78A31F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472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BACKWARD PASS · training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F9905-E297-4788-83EA-2A6D772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67150"/>
            <a:ext cx="4724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Propagate derivatives from the loss to every participating parameter; an optimizer then updates 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3D36B-F11F-45F2-9F50-157E5BFA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Static during inference: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weights do not change while the model answers a prompt; activations and caches 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0EEC8-8EFB-408F-BECB-74D69941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1061A-67B2-4CAC-9A00-BA48F5D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C3208-8119-465A-841F-53D5F62D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EA2AE-0E5B-48E0-A92A-54E15959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θ vs activations</a:t>
            </a:r>
          </a:p>
        </p:txBody>
      </p:sp>
    </p:spTree>
    <p:extLst>
      <p:ext uri="{BB962C8B-B14F-4D97-AF65-F5344CB8AC3E}">
        <p14:creationId xmlns:p14="http://schemas.microsoft.com/office/powerpoint/2010/main" val="11235363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D6F035-B94A-451F-BD82-E56EBF25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 Is an Address in a Learned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D0189-FD15-461A-8831-BB30BF07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3B2A7-53BF-4D7F-8531-F1C5C1F8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E2A10-1380-417F-91E7-7255B357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B0DC9-704E-469E-B4CF-09876EFC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The tokenizer returns an integer. That integer selects one row of the embedding matrix.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16D73-F143-498B-8C97-6BA9B98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C99C8-139C-4D87-A5D4-B9AD817F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94364-8D9E-4661-8A4F-FF53D68C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4668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20050-8D9A-437C-8653-9D0B8671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26649-C18D-40EE-88A6-2FE3DD1D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668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6EC49-EB3B-48AA-A038-00ABFEF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859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embedding row E[v,:]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EDA40-31B2-4726-92BA-13FDA7C3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5CE42-432A-4AB0-B1AD-FAE14505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5152F-21CE-4392-88DE-03174C08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240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4AC45-B62A-43EB-8199-85B4290A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431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B89A9-5254-46BC-8D55-055ED8B1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240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67EAA-4250-4D57-AF2A-A6F7DF32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431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[2, 0, 0, 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31A2C-B863-4AAF-9351-CB1858A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F1E77-FCF9-41C0-8D1F-0A69BB2E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D765E-05A1-424B-B351-A8FD0A70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812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D814C-19F1-4154-84E4-974AE71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03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A3A10-1C8A-49E5-8330-FDD98C8B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B8693-3DC0-4980-B7FF-996EE92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003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[0, 2, 0, 0]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65298-13B5-4409-A49F-63BA15D8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A2A37-D7A0-47B3-9091-A13B47FC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30308-E0C1-48FD-87B8-163C50C6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384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01AE3E-F799-444A-B399-0254FC20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C186C-439E-40EA-83D0-22497D3D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62076-CE36-4B2B-9490-03E2BB74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[0, 0, 2, 0]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6AF40A-E18D-4FCD-BF23-9EB8F2A9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19DB9C-4AB0-4CAE-9D48-E7C91F2F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9EA9D-AC35-4EEB-A361-C8286220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956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DEC58-F21C-424E-813F-7B4F4CDE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16DF3B-B8FD-4DC8-A125-4D46DDC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956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F277A1-A516-465B-82A7-1D9E108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[0.2, 0.6, 2.3, 0.4]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D3E5EE-99EF-425D-BE9D-399F71CF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C420B-FFBC-43A8-B6DA-D548446A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slept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08D82E-E39D-43BF-AC71-33DDB381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528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2268F7-4CC0-41F3-ACDD-78CC8D7B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BDB624-3315-461D-8A57-0A3EF948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528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2B8A22-6E36-4916-B3AF-399230B6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719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[0.1, 0.8, 1.8, 0.6]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36ED17-516D-42D9-A965-83F6614C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8D8A36-D7F8-467C-98EE-DCA76748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F4F34D-C637-47E0-84DD-0C2EF64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00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DF109F-7EFF-40C7-B1A0-F397A43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291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DDD12B-07AF-4BB6-AF78-47A4E522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1005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A728EF-C318-4554-8552-29E0340B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291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[0, 0, 0, 2]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B57C6D-9FBA-4758-8DCC-F4746E84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66850"/>
            <a:ext cx="4095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96B69E-96E3-49DF-B8F0-942529E0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543050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ROW LOOKUP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6F7931-DF19-4A35-9F72-E92D40F9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90700"/>
            <a:ext cx="3867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 = 2  ⇒  e(cat) = E[2,:]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E ∈ ℝ⁶ˣ⁴  and  e(cat) ∈ ℝ⁴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5A5AC-B61C-4432-842E-4FFAE82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4095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28AC24-ABEC-4516-B981-587179B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3867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EQUIVALENT ONE-HOT VIEW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F68C05-176B-4258-96D9-1A1CB77C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3867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onehot(2)ᵀ E = [0,0,1,0,0,0] 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= E[2,:]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7E77B7-1C6C-4CFC-A65C-E0186AD9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106870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 matrix, E: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learned parameter table with one row per vocabulary item.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Lookup is not semantic search: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ID directly addresses a row; meaning-like geometry is learned during training.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8E37B6-6B8E-46DF-A9FC-C2ACB000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0F8AB5-CC41-418A-ACF1-D4B02843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CE3F28-8592-46F3-B413-FFC1B6FE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7CD0E1-364B-4AC2-BF17-FB112A0A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cat → ID 2</a:t>
            </a:r>
          </a:p>
        </p:txBody>
      </p:sp>
    </p:spTree>
    <p:extLst>
      <p:ext uri="{BB962C8B-B14F-4D97-AF65-F5344CB8AC3E}">
        <p14:creationId xmlns:p14="http://schemas.microsoft.com/office/powerpoint/2010/main" val="9620118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49E138-23C7-45BA-97D1-DA87C24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0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 Is the Start; Hidden State Is the Result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D91EE-0CD4-48A3-BDE3-EE62C7D6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9230B-939A-4060-8A66-B2A18CD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CD68D-EAAF-453E-B23C-B2D10E9C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F7B6E-6742-40FF-AE40-51F4ECA4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The embedding represents token identity initially; each layer produces a new context-dependent hidden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0211B-B7D9-4259-B6B9-484431B1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2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hᵢ⁽⁰⁾ = E[xᵢ,:] + pᵢ        ;        hᵢ⁽ℓ⁾ = representation after layer 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AF505-9B16-44CA-9BC7-D623F859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50227-F688-47B5-97B1-66B3EA89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39B65-817B-416B-B021-FEE162E5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764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93F90-8839-42B4-996A-8CF3C38C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9550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token embedding E[xᵢ,:]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7B1AE-605C-43A6-8E8A-CC4A0A7A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0764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AEE64-81E9-4455-AB14-E2AD7D79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9550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position vector pᵢ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636CC-9BD5-4552-878C-6CBEE180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FFE05-A50A-4A6F-806A-6353131F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initial state hᵢ⁽⁰⁾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04FA6-6BAE-4E75-A8A5-AEC74A4C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B704F-3322-4EFC-A701-C6E2BEA5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1 · &lt;bos&gt;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7ACAF-D1FB-4F52-B351-60D3E12C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3EF2E-B116-463B-AEA6-CE3C1989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8605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[2, 0, 0, 0]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BE782-71BA-4834-ADC7-1DA1B9A6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670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AB253-B2F8-496F-A8C0-493A764E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8605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[0, 0, 0, 0]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6ABF7-8F7A-4BC3-9A53-C23F9725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B6D07-5EC1-4B8B-9C21-3D96EDF2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2.000   0   0   0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DA112-D6D8-4F88-B858-C506EBC7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5982F-0D58-46AB-B34D-B71CF54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2 · the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15DF5-1A48-4FDE-A81B-8B25FDE8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575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91815-4966-4BE4-8E8B-6B333150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[0, 2, 0, 0]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9A367-AC0B-4FFD-9ABE-6CD068E3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575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65A69-2B8C-4CA8-8D12-F6A2254E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7660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[0, −0.064, 0, 0.500]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7F2B4-19F8-42A3-BD5B-85029F9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FEA33-448D-4542-845F-0652A60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7660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0   1.936   0   0.500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B0082-88F0-4B88-B545-51FFF07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C2E60D-125A-44DD-8359-4B0D06F5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3 · cat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17FC05-28A5-485A-93F5-08319D1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481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C31043-70EB-4470-94A2-97154998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6715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[0, 0, 2, 0]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79556-E4DB-417C-8A6F-312F6C6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8481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567B95-F22E-4949-B9E9-0879CFDD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6715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[0, 0, −0.268, 1.000]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1D1621-1A19-4A6D-80A3-D8D47E12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F0145-EBB1-40D9-BE92-92CF425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2962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0   0   1.732   1.000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74094F-A0B7-49F6-8140-4F99078E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7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Embedding, e(cat):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fixed row retrieved for token ID 2 before context-dependent transformations.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7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Hidden state, hᵢ⁽ℓ⁾: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evolving vector for position i after layer ℓ; it is not “the embedding everywhere.”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7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Toy-design note: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position vectors were chosen so every hᵢ⁽⁰⁾ has RMS = 1, simplifying the later arithmetic.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65F583-1D2F-4E14-B887-43A4B28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7B3F93-F6B8-448A-8BED-D959202C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BE2E28-99DC-4F26-A7C5-C91D89FE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ADCC1C-BC1A-45FF-A7F7-A30A79CD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h⁽⁰⁾(cat) = [0   0   1.732   1.000]</a:t>
            </a:r>
          </a:p>
        </p:txBody>
      </p:sp>
    </p:spTree>
    <p:extLst>
      <p:ext uri="{BB962C8B-B14F-4D97-AF65-F5344CB8AC3E}">
        <p14:creationId xmlns:p14="http://schemas.microsoft.com/office/powerpoint/2010/main" val="1107671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AA2056-01AC-46D1-B3EA-26B84F4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Position Must Enter the Computation Somewhere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F0504-0794-4BC4-8571-0CE9DC74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CF54C-489A-4E13-BBA8-2E734469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DFEB7-25B1-4FEF-92B6-AB279EEF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D27C-ABB8-4A68-AF6C-D854849E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Without position information, self-attention alone cannot distinguish permutations of the same token states.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FFC45-8A88-450A-9CDA-8444BF82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953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80665-645F-4AE2-BE73-C42AFF0C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72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ADDITIVE POSITION VECTORS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B69A5-2545-45BF-94AD-1EB75863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hᵢ⁽⁰⁾ = eᵢ + pᵢ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Position is added directly to the token embedding.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Used by the original Transformer and by this toy calculation.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4A303-D02A-4BB0-AC2C-217BBAC9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9530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B3AF0-EAA8-4351-B27B-DC6B635A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4724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ROTARY POSITION EMBEDDING · RoPE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0093D-D2D4-4144-8CA5-3E0EDDF1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q̃ᵢ = R(i)qᵢ     ;     k̃ⱼ = R(j)kⱼ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q̃ᵢᵀk̃ⱼ = qᵢᵀR(j−i)kⱼ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Position rotates query/key coordinate pairs, producing relative-position structure in their dot product.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5344A-1458-4965-9F74-74027513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706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10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Architecture choice: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additive encodings and RoPE are alternatives; neither is part of the definition of an embedding.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10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Where RoPE acts: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on queries and keys inside attention—not by simply adding a vector to h⁽⁰⁾.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10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Why our toy adds pᵢ: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it keeps every number visible while preserving the logical requirement that token identity and position are distinct.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9E417-4140-4444-89FE-15A79F14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73136-B740-46E4-96E2-CFF1E474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73F44-6D1B-47F0-924A-F9FEE28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ACDB8-E45B-429D-83A1-8AE81652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identity + position</a:t>
            </a:r>
          </a:p>
        </p:txBody>
      </p:sp>
    </p:spTree>
    <p:extLst>
      <p:ext uri="{BB962C8B-B14F-4D97-AF65-F5344CB8AC3E}">
        <p14:creationId xmlns:p14="http://schemas.microsoft.com/office/powerpoint/2010/main" val="8566665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99194C-51F5-4C47-B4CB-68F26886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4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Normalization Controls Scale, Not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2CB1E-5465-4903-95D2-FE3E55BD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81D6A-6C62-4300-BD04-2051550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3E8DF-1607-40CF-846F-347EF8E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C0A0-400A-485D-AE18-618D2F43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Normalization rescales activations before a sublayer; it does not choose which token is relevant.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763CD-0F0A-46E5-BDB8-7436922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5000625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EDEA"/>
          </a:solidFill>
          <a:ln xmlns:a="http://schemas.openxmlformats.org/drawingml/2006/main" w="9525">
            <a:solidFill>
              <a:srgbClr val="625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304EA-EF88-4A2B-A0C8-36C0764C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4772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LAYERNORM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FD92D-D00F-438E-95C7-9042C963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772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μ = (1/d)Σⱼhⱼ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σ² = (1/d)Σⱼ(hⱼ−μ)²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LN(h) = γ ⊙ (h−μ)/√(σ²+ε) + 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9B943-136C-472F-9866-FEC7DAE3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66850"/>
            <a:ext cx="5000625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88634-90BD-42AE-B4D0-327EDFE3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543050"/>
            <a:ext cx="4772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RMSNORM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AC7AC-C541-462D-BCF9-6E18C358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90700"/>
            <a:ext cx="47720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rms(h) = √[(1/d)Σⱼhⱼ²]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RMSNorm(h) = γ ⊙ h/√[(1/d)Σⱼhⱼ²+ε]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21E26-0B4A-4F47-9762-F854427F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rPr>
              <a:t>rms(h⁽⁰⁾(cat)) = √[(0²+0²+1.732²+1²)/4] 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9C8DE-15D8-44AC-8455-11FAD1EE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Therefore RMSNorm(h⁽⁰⁾(cat)) = h⁽⁰⁾(cat)  for γ = 1 and ε = 0 in the toy trace.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8BA48-2EBF-4261-BD56-D574173D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0591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Pre-norm: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normalize before attention/MLP, then add the sublayer output to the residual stream.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Boundary: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real implementations retain ε and learned scale γ; some also use learned shifts or different normalization variants.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609C0-87A2-411E-8A25-D64C15C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93267-BA14-4155-A938-642097C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F8FCC-61A8-4A38-8A47-6B00E069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9A329-184A-4F33-B5B5-54658DD0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RMS = 1</a:t>
            </a:r>
          </a:p>
        </p:txBody>
      </p:sp>
    </p:spTree>
    <p:extLst>
      <p:ext uri="{BB962C8B-B14F-4D97-AF65-F5344CB8AC3E}">
        <p14:creationId xmlns:p14="http://schemas.microsoft.com/office/powerpoint/2010/main" val="16429473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675D0B-A42A-46BA-BF54-602E5A7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Decoder Block Receives a Matrix of Token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2E36D-8128-4D61-9E94-4DF8FDDB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79BB3-93CC-430F-83C3-211028E5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BFC2B-3F61-4372-BE1F-5CAABFA0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87D03-EF5E-457F-947E-FBC0F1B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Rows are token positions; columns are features. One block updates every row while preserving this outer shape.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6BFD4-2A06-4136-8DD1-4FBCD1FB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rPr>
              <a:t>H⁽⁰⁾ ∈ ℝᵏˣᵈ      with      k = 3, d =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C4414-3460-4DE3-B31F-074DF5EF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383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797EE-1C14-475A-9887-9204974A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574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row / 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89ED2-BE40-4847-9992-3FBB9BD0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A3C66-C4CD-4400-BE98-625DFAFF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574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feature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A219DB-DFC4-4608-A9C3-ECBA6713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383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7EB1F-03C1-4366-9ABD-4100518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0574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feature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9C645-0BA6-4455-BC74-45B09BDF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B96C1-44ED-4045-8702-5FBACD78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feature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609C3-8560-4782-9270-1C0881B9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383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795D4-7121-4489-B255-B99AC516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574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feature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9E9D0-F423-4C02-8D57-A2A8C5AC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289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127BB-A956-4E31-B74D-F445E21B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479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1 · &lt;bos&gt;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72219-747E-4483-BCD2-18FD990A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FB185-5790-4DCD-BC47-B0831AB0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2.000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6CBC71-A3B4-4EEA-A1D6-4FAFC91E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6289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EB6EE-30A4-4A61-913B-60611A5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479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5EDDC-16CD-4327-8AFC-F93611A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8C2C4-7345-43C0-ABAF-20E68F1E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004AD-27D4-4F7A-8FE5-932F5FC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289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A3953-1516-4293-8745-CBE0659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479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5D23B-E70E-43A9-841A-7DF96C76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194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31B5F-436E-4F76-9C74-2CD7A5AB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385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2 · the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60541-7BEB-471E-9201-1CE462C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E42AB-3A92-4443-BF51-A4ED354C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385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8D796-2A7B-4B1B-8796-D2AA643E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194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89F60-3A2D-46CA-8704-A318C4DC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385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1.936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BF48B-8A71-4A29-91CE-D2AE5EC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137AA-3BEE-423D-BEEC-E56EF6EE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93CCF5-CDAF-4B99-99ED-FAB8117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1945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2067CA-D231-4BEB-821D-A6522BA9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3850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8BD48-4636-4DFA-95FD-1740BC08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100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B52A42-CB6A-463B-8015-6C3D42C2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29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3 · cat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8424C-5BAE-4D2D-B475-FE235879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71D0FD-840E-4836-BB52-8B7BADA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29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33DD9F-5025-486D-91D7-D1CF586A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100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4C7338-8549-4363-92B5-F33DF50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29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3791A9-A549-40E3-AC7D-8DBC623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789734-263E-4D23-BC47-02555B1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1.732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171499-63BD-46A0-9841-9950D34F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810000"/>
            <a:ext cx="1381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36F390-F06B-4314-829F-1CEBA50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29050"/>
            <a:ext cx="134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1.000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D77BB6-F8AB-4D4C-8A7A-48F32442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591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8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Sequence axis, k: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how many token positions are processed in the current context.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8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Feature axis, d: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width of the residual stream—the vector length preserved across blocks.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8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Important: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 mixes information across rows; the MLP transforms each row independently.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32C44A-356C-41A6-8350-42FD006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D3E24C-8255-4BC6-86FC-390A1A73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A4E983-8596-4407-903F-75D897B9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866785-EC32-4FAD-AEBB-784CB5A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H⁽⁰⁾ ∈ ℝ³ˣ⁴</a:t>
            </a:r>
          </a:p>
        </p:txBody>
      </p:sp>
    </p:spTree>
    <p:extLst>
      <p:ext uri="{BB962C8B-B14F-4D97-AF65-F5344CB8AC3E}">
        <p14:creationId xmlns:p14="http://schemas.microsoft.com/office/powerpoint/2010/main" val="1151395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2ECE91-D985-49E3-AEC2-539F573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 Creates Three Learned Views of Every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3CF54-170F-47EB-B8F5-D79F4896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0E73B-4789-4CD2-B138-DCE22319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001DF-4218-4B2E-B3D3-693CE118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D0EE9-8CBE-45B3-899A-483B93BD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Queries and keys determine weights; values determine what content is mixed once those weights are known.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120C-A35D-4C2F-B604-18980E5C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Q = H̄WQ      ;      K = H̄WK      ;      V = H̄WV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9FE75-EEA4-42C5-B9CB-121C9F7B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rPr>
              <a:t>H̄ ∈ ℝ³ˣ⁴     ;     WQ,WK,WV ∈ ℝ⁴ˣ²     ;     Q,K,V ∈ ℝ³ˣ²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F01AC-E7DC-4740-BD16-15B45496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33147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1509E-DB79-45E4-91C4-2318AF95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QUERY · qᵢ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A032C-F22F-45E0-8F9D-33197433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30861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What pattern is position i testing for?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row of Q; input-dependent, not a stored prompt.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E9CEF-497D-4DC4-83BC-E8008E25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19375"/>
            <a:ext cx="33147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D149E-A905-4A6D-834C-FB9DF903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955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KEY · kⱼ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883C4-66F7-43DA-AA7D-74567C39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43225"/>
            <a:ext cx="30861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What pattern does position j expose for matching?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row of K; scored against qᵢ by a dot product.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78E70-8F52-4588-A18B-EB2834A3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19375"/>
            <a:ext cx="33147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3A4C2-B8A8-4E25-9217-8BCD09CF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955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VALUE · vⱼ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4345D-CBFC-410B-A64B-0F4E2531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43225"/>
            <a:ext cx="30861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What vector contribution does position j carry?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row of V; mixed after scores become weights.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066A1-0699-48DE-9B7C-553CE5C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All three are activations: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Q, K, and V change with the prompt; WQ, WK, and WV are learned parameters.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One projection per head: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toy uses one head with dₕ = 2; real models evaluate many heads in parallel.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66762-8104-4626-AE4B-731E7E8C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475F2-FE65-40FD-9194-D0EF38A2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89015-8DAC-4F71-BC07-A1A83D6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DE788-87EC-4652-92F9-3836F8EB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Q, K, V</a:t>
            </a:r>
          </a:p>
        </p:txBody>
      </p:sp>
    </p:spTree>
    <p:extLst>
      <p:ext uri="{BB962C8B-B14F-4D97-AF65-F5344CB8AC3E}">
        <p14:creationId xmlns:p14="http://schemas.microsoft.com/office/powerpoint/2010/main" val="5415595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246B51-AB8A-434F-B9CC-5EF50CD8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0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0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Our Toy Matrices Produce Reproducible Q, K, and 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8202C-B494-4823-875C-620BDCF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9952-33BE-433D-8537-7E066FE3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0B876-FE6A-4AA4-9826-C8F90D5E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E1269-B23D-46B9-9883-55C81A60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Every value below is obtained by multiplying the unit-RMS H⁽⁰⁾ by a displayed parameter matrix.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6B5C2-3B7E-434A-8D28-52CCD21D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Learned projections · 4 ×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5759-1BE4-41C8-98C8-29D8B320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A9877-A4C4-4C61-8C8B-FBC4E134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B6DC9-6B9A-4A7E-9AFA-1E25762F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64BA5-9943-4513-9DDB-D5375F0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WQ₁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A86D9-DAE4-4E9F-B1FF-22122530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7907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EB57F-64D6-4596-8D9D-FF291F3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8097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WQ₂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87A47-6495-4971-B448-0B103ACC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90700"/>
            <a:ext cx="209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E0F1B-1E9B-4D5C-AD2E-4AEBDAF7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975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45E2E-1901-4965-BF30-395743B3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907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83F32-74BD-475A-AE1C-31ACD4F5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WK₁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7B3CA-39B6-4568-8748-7EC82B56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907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6A706-1E1E-4F82-AE26-78A29ECE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097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WK₂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E26E7-8DB9-49EF-8E6D-6A2B524B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FEDD9-917A-4A5F-A74B-A28FBC05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E01DC-E24B-4D0C-84E1-9FF4373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027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B956A3-F54A-42CF-B1CE-C7C65BE0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1932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461E3-5D86-47E4-A242-31E6FEEF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20027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3D2E3-2981-4B87-808D-234D1FAB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21932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0268A-6850-4C32-B1F8-284D7DB6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00275"/>
            <a:ext cx="209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7CD4D-A265-4958-A179-25B1CE2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19325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FF351-C800-4323-9D64-FF947612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027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3E978F-0F0C-4B11-8A24-FDA47FB4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1932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96E1C-7864-46F8-9F25-2EBE507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0027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0CCFF-6C2C-454C-8511-2650847A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1932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806E21-ADED-4C3E-9224-BCA0A0A9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23D44D-243B-417B-8E9A-F4142C55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299510-F224-4062-844B-0A7725DD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985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EE5F33-A8B3-4D8E-B8BB-6E5EEC4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E03B1-C646-4D6B-ACA7-7FEFF91F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60985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3F94A3-2BA4-40D9-9E5A-5E7764B9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62890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0.516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A0AD3F-36CF-4CCC-AF6E-7F0AB752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209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5B52B0-11F3-4CAA-868C-287EDCFC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2890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139442-B8E9-45A5-AF62-E84DEA3F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985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015724-DE94-4431-A120-A1C44D85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2890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0.516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710C7-9568-4D76-94D8-35C1A026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0985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DD7643-3105-4942-8BEB-8D9FB57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2890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5485CC-96D5-4CA9-9733-5683165F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1E85DA-926D-4280-9E96-35777C2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38475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6256A3-EEF0-4EFD-805B-D1E3CFD8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1942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77FFD8-09CC-40A9-BEF2-72BF927C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3847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0.577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2825BC-000F-4E18-8F2C-5B4F4550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01942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73C3BD-5D5C-45FD-915C-A6E14B6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3847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8ADBDC-84EB-4106-8B0D-0EDBC652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19425"/>
            <a:ext cx="209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9DFA8A-715C-43F8-805E-A36A27F1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38475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D2080F-ABFE-41EB-BDA1-F76F207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1942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2CEA0F-FC08-4DFE-88D1-6603147D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3847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6CB780-5984-4113-8A61-0981A270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1942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2AF9CF-508F-476B-A6D5-AF20D567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3847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0.289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9A83AB-73A8-4EDB-B133-C1F89986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BD603B-98AB-4B97-B0F7-72EA5B1C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8079C0-16C1-4E7C-9249-DD60D733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84894C-4810-4DE5-BBAD-9F885772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4A62DB-3C9A-45E6-B8B9-EFE98D8D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4290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512636-1C24-451D-9939-E2C3DA2A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480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2E65E7-2B69-4B70-8A18-2C4C2939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29000"/>
            <a:ext cx="2095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83E909-6B25-4347-84BA-70BB3F2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48050"/>
            <a:ext cx="17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B1D05C-95BC-45D5-8C31-15A688E8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3493A3-1198-4DE7-9E8B-637E6265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0E8F0C-6E78-44D2-A9F4-E4C8105E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290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BC3716D-941F-4FA6-9045-1276B3C5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480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E2F3CD-7758-4D05-BC63-589FC6DB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16AC48-DB5F-492A-899E-A49EA9EF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row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C39342-AA9D-44D1-8843-3301258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1B9D97-93D4-4CA3-936B-6AA155F8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WV₁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4A4B2B-ADAF-4764-8079-BBFD8D2B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1148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E214309-0CBF-4220-9EC5-646131AF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338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WV₂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DF3D897-F8D9-4306-A714-98B7BBB7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794854-9F6E-45AD-B847-6EF8B71E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6BA7A8E-28BA-4ACE-A48C-AA42D731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3684D2-DED1-46F3-A04B-0612D179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4342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43725F-A302-47A8-9CF0-FA4F73AA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52437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760BF6-2A39-4544-84DC-69748884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4342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1B4768-8E04-43B0-B02E-F0D2B983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692CB8-C060-4020-966D-715E6213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767E675-B6EB-444B-B135-3C99A587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FC78BB-C2B3-42FF-B6CC-2088AE9E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63B065-D935-41F4-9421-2677C448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3395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A2C05E-E7DD-415A-A3EB-331DBF41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95300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0.516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6C231E-1AD4-4D09-B3CE-E22CCCB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340F6D-2B6A-4B54-95ED-0C2B3A36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6FDD00-5B5B-4008-84F7-434F706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4352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7D3575-7497-4E9E-93DB-2D7748F6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6257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0.289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E8223E-EA4C-4716-969B-D06F635A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343525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02442A-1568-4BA8-8FC1-1D372F87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362575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0.289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8F3EA87-17B8-4069-9D18-2392B0BA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71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A4E06B-67E0-4682-AE00-485E9193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533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0241A8-551A-4FB4-9B37-C88572A4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9285E66-3707-44DD-B62D-748A182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721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3960C0F-5134-45B7-87C9-5EA73C5E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5753100"/>
            <a:ext cx="714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0F9BDB-C7DD-477E-9942-67F194AA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72150"/>
            <a:ext cx="6762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F8D558-1235-4104-8F74-F61F34A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28750"/>
            <a:ext cx="708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Input-dependent activations · 3 × 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2C1E844-3D7E-4951-A44D-5581A699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2BF039-EA79-4ABC-9FBC-E127E33A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581592-565E-475E-B996-A8810C7B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E34546-1100-42E9-9000-EBE6FC35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q₁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A7DEFE8-37C2-44C7-9393-90C5F6EA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907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C4E03CA-6019-4A02-9F08-7F7054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097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q₂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795B225-9A42-4819-84FA-23CC2498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FB06B91-B3A8-4FA7-884B-BB8CCE2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k₁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FC4796-7628-4F52-802B-FA4FB00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907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A8BDF7-30E2-4ACC-BB28-BA7AF4F2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097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k₂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DE55A6A-AADC-4C28-B92E-C5602E03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3CF6F83-0CB1-42FA-969D-A086E540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097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06CA77-121F-4A8D-9876-9AA8295E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907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7773E81-5407-47DD-A58E-A0F09FDA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8097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v₂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115715-4312-4F8C-A6A9-417A9D11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0B94643-8704-4849-897E-1E0345C9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59FC702-BC28-45CF-965D-7FDBC01E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431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846E2D-886D-4875-81EE-5CA8452D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622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1E08AF8-C6E2-48C2-914A-B57EF1CD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431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6F88410-B455-45C7-B943-10479528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622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AD0455A-5A73-44FD-83D3-D4335896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049E0CA-5BE2-4802-A5B7-BC9AE06E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342DF75-5043-491A-9925-50D6131D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431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EB6541C-4120-4419-ACC0-CFCED692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3622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A65CB24-493E-4765-AAD8-BE94A6C6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2F6E597-CB36-4AB6-9CA1-3B4F0EB1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1.000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64F2229-9054-4BD2-A238-3F35389D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431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F67370F-F8C1-4A89-ACD1-36A6C7E0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3622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B55DDDA-95D5-443B-AE45-C94B5E47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361373F-9A5B-4349-A1AB-972A658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C7CF3D1-C175-4263-99DE-757781D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DFF9997-D192-4247-9AD3-1D6F0FC1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146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8E53107-5B11-4594-8269-B2F3A0AF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956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4DE3E63-C9F5-4C3C-8A1E-0555118E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146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1.000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EC200A5-7AEF-44BC-8BEC-FE122C8F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5DE9B70-C9F0-4CA7-9F8F-9C7F6B3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146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1.000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6E6F91E-5328-40F3-8A3B-DBD48D46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956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D2DFFBC-A578-4EDD-B3F3-B9D263F7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912B236-8472-411F-8BE3-B50261FB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4042FFE-1B3F-4A26-9180-E68A13E5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90C932B-6131-42D0-B484-1D654B2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89560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37AAB1F-087D-4C6B-BD6E-9A02DC61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91465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1.000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FBEB452-599A-4680-A0F5-78C010CA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D8A59F9-7065-4C07-80F3-9F647A5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E1FB827-BBC7-48BF-9E51-51BC0EC9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10F2541-272C-4624-9C00-C9E08D9F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671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1.000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BDE0CE6-ED54-4482-8450-721B855B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FAB9D01-0CE8-4201-8C71-499EAEFA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671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12B677C-275C-476A-B1F7-573AF08F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FE8C47B-F404-403C-87E8-7AE90805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7A77B68-E5A3-4775-99CB-E0A90A3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480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2DEF6DB-3E0B-426D-A546-9A93B2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671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0.500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687627F-78E7-4536-AF9D-8E14EEEF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480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B84C98C-F9A0-4315-9C26-D7A62670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0.500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7D6DA05-DF6F-4B87-B99C-68E3F083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48050"/>
            <a:ext cx="904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097ABF5-26DB-4173-BF5C-309DD9E2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467100"/>
            <a:ext cx="866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0.500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226F0DA-C754-4E3F-974C-5FF9624D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67200"/>
            <a:ext cx="718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q(cat) = [1.000   0]     ;     k(the) = [1.000   0]     ;     q(cat)ᵀk(the) = 1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867BB8A-7158-40A6-BB48-AF19B356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10125"/>
            <a:ext cx="6991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Sanity check: </a:t>
            </a: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H⁽⁰⁾WQ, H⁽⁰⁾WK, and H⁽⁰⁾WV reproduce every row in the table.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Designed toy behavior: </a:t>
            </a: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matrices were chosen for transparent arithmetic; once fixed, every activation follows without further assumptions.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1815728-822D-46C8-8EFE-FFA0B3C5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A9405E3-AB48-4C67-A6CA-7BF8FF60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F53E170-A25E-4D93-B238-E5F18C14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B665EC4-D9F6-45EE-91DC-09DC9D06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q(cat) = [1,0]</a:t>
            </a:r>
          </a:p>
        </p:txBody>
      </p:sp>
    </p:spTree>
    <p:extLst>
      <p:ext uri="{BB962C8B-B14F-4D97-AF65-F5344CB8AC3E}">
        <p14:creationId xmlns:p14="http://schemas.microsoft.com/office/powerpoint/2010/main" val="20980273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175E3A-2DD2-42D6-9D9B-24ECF459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6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Similarity Becomes a Score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2A30A-9FB1-4B82-9EF7-1AD5EC98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0DB93-4815-492C-95AC-B79D9F9B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8A178-39EE-40A2-B7CB-3DF3D70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F5E80-A799-4FB3-B134-786321A7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Every query row is compared with every key row before the causal constraint is applied.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0D9F8-D774-4C50-9ACB-877BFD4A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2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S = QKᵀ / √dₕ        with        S ∈ ℝᵏˣᵏ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36840-5C85-4330-9C68-1E1195F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s(cat,the) = q(cat)ᵀk(the) / √2 = (1·1 + 0·0)/√2 = 0.707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9A778-9E9C-4EE3-8C05-E746A90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117CB-CEFF-442A-9595-E74B7F5B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query ↓ / key 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86ABD-1B39-447A-B6E3-3A8552E5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6DF3D-AF3B-4DFE-A403-BDD534E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&lt;bos&gt;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EB923-CB15-48C7-9121-43D40C78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DB8DF-A96D-4A1F-B360-D25E2F26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the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721F7-F28D-4626-A9B9-3A3712E8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D6CD6-E411-4549-BE10-A34C23F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9F3AD-9FD4-4CAC-A1D9-AFCF280A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7A246-02E5-47E3-8AC5-A899A8EE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10BCC-6248-4EB4-9CFC-C64D712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601ED-3918-478C-9C21-4F72E6ED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ED674-7843-44C7-B30F-900B3FD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36D25-18A2-4CC6-A6D0-4E34A63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E6505-670E-4D36-997F-EA13757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60061-22EC-4A1A-B29C-DFE33A1C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CDEA4-0EA5-48AF-A687-6710FD4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9FCB5-BBE6-4A01-ABC2-4851390F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293F9-2569-4E44-983E-B4D08B4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FCF56-E872-4C80-83C1-7529B474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481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2ACC8-13A2-416B-A22E-EFDFF075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CF1697-6AC2-4777-8FA7-5BCB8692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B89634-76E6-4130-8196-DE357FA9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29424-5EA8-46EE-A43E-43066FD0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0.354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F672E-A625-44B3-9858-0345AAC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1DECD6-DEC5-4A08-9028-8AD58C67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386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D1950-CE22-412A-9CA4-44F9133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F2D55-29DE-45F4-905E-DCB38408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DA0AA7-5144-4D96-8234-8B4B27D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63B51-AB92-423A-804F-60A4CC0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0.707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580294-62B1-4D09-A8C8-7C411F9D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9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BA7F77-1254-46CC-9270-F4E489D7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B6C097-8588-4A0F-8845-1CDCC6A9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668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Why divide by √dₕ?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without scaling, dot-product variance grows with head width and can drive softmax toward saturation.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A3E60F-8192-4BA2-AABE-25D03AFF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B9157C-D56D-44A2-8FC8-AC7861B2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6DD866-FA15-4900-B352-BE72580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A3B63C-4F1F-411B-994D-52F140E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S ∈ ℝ³ˣ³</a:t>
            </a:r>
          </a:p>
        </p:txBody>
      </p:sp>
    </p:spTree>
    <p:extLst>
      <p:ext uri="{BB962C8B-B14F-4D97-AF65-F5344CB8AC3E}">
        <p14:creationId xmlns:p14="http://schemas.microsoft.com/office/powerpoint/2010/main" val="10600401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EAE5E7-38DB-49CE-831C-1D443826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Causal Mask Removes the Future Before Softmax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1BFCD-007C-4FB1-990F-D75F7F9A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2BBFF-BF0D-4401-8C14-5CE79DD8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1076E-AF4D-46DD-AF27-BC66378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97592-0617-4717-876D-048CDE3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Autoregressive prediction is enforced structurally: position i receives zero probability for every j &gt; 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ED8F9-60A6-4B41-A1CC-219DB90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144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A = row-softmax(S + M)        ;        Mᵢⱼ = 0 if j ≤ i, otherwise −∞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E75AC-6E05-4C08-AAA7-9CCD582D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Masked scores · S +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82043-CC4A-4948-AD14-97C226AB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33FFA-0AAB-4C91-81BC-46009318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34887-75A5-4812-9C7F-EABD88F2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835B4-9B23-44CB-922C-6F867591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431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&lt;bos&gt;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17F1E-73B0-42A3-AF0D-FE46E4FB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3B409-CFF9-47AF-80A9-98E7502B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431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8D529-1CBE-407D-AA6C-840CC4F4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61250-5D7C-4902-AF9A-C263A1AD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431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C8B67-8D7C-447B-86F6-F1E1E26F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515BB0-F61E-45AB-88A4-B2BD19C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BD2C2-4F3A-4951-9DB1-A3225AAF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D9895-AEC0-4603-BA11-07EC7B25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956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8459F-FB07-4D96-ABB8-5F9FCE0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0F925-8911-4026-9CF6-146EFCEA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956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−∞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22D8D-5EF6-4F0F-A418-34F65B2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3233B-813C-4AA0-8C4B-2F616FFC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956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−∞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C82EB-7C2F-4618-ACAA-6D1ABD0F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8477B-980E-44E8-9B57-77B483BB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FCE44-ED4B-4965-B0B1-418101DA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6BDDEB-33CA-4DE9-BA97-A8928CA5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480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B72CC-A28B-4F13-99D5-BE0636D4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FA769A-F3D7-41C9-B65C-28B7BC43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480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F30CA-4BDC-4500-881A-0CEB8BAE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B6BA64-2F12-49DC-B47E-D277D1F9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480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−∞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BA26EB-C682-4871-92FF-4BE5EC6F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D9A05-1B51-4FAD-A22B-9985D76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06C0C-9394-44C1-BED1-52283CC6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A131CA-86FE-470F-93EC-CE80754E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005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0FBB33-F8E4-477D-B98D-5E4E5755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1944E2-E119-4DC3-905F-3C043AC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005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0.707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3FAEED-6FEC-4D8F-B0D8-1B031C95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153485-FD73-47F2-846D-3EA486D8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005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781C35-544E-4139-9A23-D9EB9ACF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146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2B5D83-DA25-45D9-8E03-138FED85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Attention weights · 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23E5FD-51A1-4D2F-84E0-2ADBF6D1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1AD995-4707-461B-A3D5-0B0A55BF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query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8C8461-2C5B-4228-878C-339AD2F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3E8D44-41F8-42D9-ACA2-48E0AF75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431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&lt;bos&gt;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B04728-C172-47D6-85BE-A047B20F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4AD573-56DC-4CC7-84DB-53CEA12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431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the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9915F6-7669-425B-AC98-8FC96070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241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7328CCF-BB99-4CB9-8D46-818CA3EC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3431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cat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E97D6A-343A-49A6-AA15-6A11EAE3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051373-C074-44AE-9471-EBF7D33B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E66971-0FAA-4A85-81F1-10DC47D0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60D4D4-A10C-41C3-9F8F-3F8AA779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956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7A0EBE-4D5B-436C-9B97-07398B8A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749238-D811-4BB9-9529-9A33D170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956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19B8A1-8C50-43BF-BE00-4650F860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765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7BCC78-0455-4838-8871-F739A23B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8956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E478D8-3C1E-489F-9FAB-E858174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090D64-5659-4092-B565-5568A0FF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E9B903-C1C2-4740-80B7-67AD28C6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1FA91A-9542-44BA-9F19-FFCAD153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480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5948B1-DDB0-4AC2-B3D2-CDE521D3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EB806E-B737-4D1D-BEBA-B31B426F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D4C7AB-68E4-4163-974B-8DF86C26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290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69A5AF-BF0E-4BED-926A-B383959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44805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A6C5BB-8C4A-40FD-AA4D-ED97E2C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E6B18D-1BBF-479C-8F08-7F5E8987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756AA3-26EA-4BE7-95D2-9A552B29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AE7A6D-433F-4CBA-86B2-B6EA344D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005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0.248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3D453C-C583-4D21-94AA-58ED869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A3B2384-A82B-4C3D-8813-1E6F24A7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005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0.503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77A7E3-2997-4ABA-A01E-4B2B5D06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9814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0D7D6E-9213-486B-9657-B1BEEF1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000500"/>
            <a:ext cx="1009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0.248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C84D678-6EA3-4E5E-ABB6-D26DE00B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stable softmax(sᵢ)ⱼ = exp(sᵢⱼ−max sᵢ) / Σₜ exp(sᵢₜ−max sᵢ)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1FDC89-2065-4E2A-A56E-9B6EC4BA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Cat’s row: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[0.248, 0.503, 0.248] sums to 1; “the” receives the largest weight.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761547-1AD4-49DA-A26B-887A59E4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254FED-0058-400D-9EFB-0C92F59B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D6CC04B-BDF5-48EB-BB00-EF663423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EA7612-D100-4283-9313-FF2DA802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A(cat) = [0.248, 0.503, 0.248]</a:t>
            </a:r>
          </a:p>
        </p:txBody>
      </p:sp>
    </p:spTree>
    <p:extLst>
      <p:ext uri="{BB962C8B-B14F-4D97-AF65-F5344CB8AC3E}">
        <p14:creationId xmlns:p14="http://schemas.microsoft.com/office/powerpoint/2010/main" val="19445031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66FEBE-2858-4438-B573-FC628A23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 Mixes Values; It Does Not Retrieve a Word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D83F9-F7DA-4B7A-A699-08997FDC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688D2-B98B-442F-BFB4-4DF41AEC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306C-1AFB-4667-A20D-66780347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09248-4C5C-4FCF-B744-94F856FE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Each output row is a weighted sum of value vectors, using the corresponding row of 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616A0-E307-4997-B49E-084A6433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620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rPr>
              <a:t>C = AV        ;        cᵢ = Σⱼ Aᵢⱼ vⱼ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90638-7ADD-4917-8D7C-6573471E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238500" cy="201930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5E69F-4824-42FD-99BE-ED927C4E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009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CAT’S ATTENTION WEIGHTS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EC761-84DE-4FC4-92F3-DD4EC505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[0.248, 0.503, 0.248]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for  &lt;bos&gt;,  the,  cat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6F7CA-3A60-4AAA-9D3C-BDD00A43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8607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4C75F-5DAD-40E4-9CE3-D6563F8C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990850" cy="201930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FE5A1-B15F-485D-B3D6-7018A6F0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526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VALUE VECTORS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87D8E-6721-4540-92EA-94DD5C4E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276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v(&lt;bos&gt;) = [1.000   0]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v(the) = [0   1.000]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v(cat) = [0.500   0.500]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03E71-BFE0-4109-A68E-A740A47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86075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9E1E3-01EE-41B8-9502-F8B10CD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286000" cy="201930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E906E-3782-4178-B354-0B7B38CB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MIXED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E77F3-C93E-4536-9331-17D627E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057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c(cat)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= [0.372   0.628]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6B857-3075-4780-8A15-7085BBA5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c(cat) = 0.248[1,0] + 0.503[0,1] + 0.248[0.5,0.5]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6BF1D-772C-4EC7-AEAE-5953230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59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Mechanism: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soft attention forms a convex combination when A is row-softmaxed.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Boundary: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mixed vector is not an interpretable word lookup; downstream projections decide how it affects the residual stream.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9FDA6-A55C-4AA5-89CF-F43368C2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4E83D-0FE0-4EC7-8CE2-9C4545AE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550E4-E3DC-4F87-8452-FF2B53CA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BE700-A13C-47FE-B03F-1A362A0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c(cat) = [0.372   0.628]</a:t>
            </a:r>
          </a:p>
        </p:txBody>
      </p:sp>
    </p:spTree>
    <p:extLst>
      <p:ext uri="{BB962C8B-B14F-4D97-AF65-F5344CB8AC3E}">
        <p14:creationId xmlns:p14="http://schemas.microsoft.com/office/powerpoint/2010/main" val="5826297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20FF8F-97F4-4750-A2D5-E0C12E15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0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Multi-Head Attention Repeats the Mechanism in Parallel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7EF6A-B1AC-43F5-939E-78EAC4DC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4C2B7-FE03-4FE1-98F4-0F2C291D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CF485-0C2C-444C-979B-015B7937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82D74-CB6D-4CF2-9DC9-51F0D0A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Each head has independent projection matrices, so different learned subspaces can produce different attention patterns.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47DC9-282D-4D7F-A89F-6CDB04E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head(r) = softmax(Qr Krᵀ/√dₕ + M)Vr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26E8D-A592-4B44-976E-4C7F4074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MHA(H) = Concat(head(1),…,head(h)) WO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F4941-1151-4EDF-B9D5-B5EF518A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0002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9A73A-107F-4C1C-8A89-653A19EC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HEAD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564BE-AC87-478F-B1AC-CB7BC01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771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WQᵣ, WKᵣ, WVᵣ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AᵣVᵣ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4D9CD-EE23-4643-B15A-C32F3C07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4381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16D96-B75A-47D3-8A1A-CB800A10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0002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D0DB9-8502-44B4-9454-CBE4207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HEAD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FD9BC-C729-44BB-8CE7-A364E625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1771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WQᵣ, WKᵣ, WVᵣ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AᵣVᵣ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50166-EE79-461C-B033-AECF0E9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4381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8D898-6D08-4956-914E-718D28E9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20002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0EDEA"/>
          </a:solidFill>
          <a:ln xmlns:a="http://schemas.openxmlformats.org/drawingml/2006/main" w="9525">
            <a:solidFill>
              <a:srgbClr val="625D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12A5C-88B8-4237-93F0-82A19F6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80578-075D-408F-B343-6F8B7A39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1771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parallel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learned 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D198B-6117-493A-8303-89A8F04C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4381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23131-890F-4A53-B11C-206995BA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47950"/>
            <a:ext cx="20002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37C94-6B13-4382-98DC-E2973576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HEAD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19D61-94D5-4BE0-A69F-B79B220C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71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WQᵣ, WKᵣ, WVᵣ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AᵣVᵣ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E7F53-89FE-44CF-9ED2-99F1962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4381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41E83-68BF-45F1-92B3-B5B48DA7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7675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13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561C7-0025-4842-8BD7-038F98F2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38650"/>
            <a:ext cx="6667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863DE-1106-4C1D-B195-6EF425F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86300"/>
            <a:ext cx="48577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DD64A-737D-4DB2-B423-4C2A9523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62500"/>
            <a:ext cx="462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CONCATENATE + OUTPUT PROJECTION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263F7D-48C0-484E-8AC0-F35ADFD7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 · dₕ → d through WO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1110C-6619-4EC0-9C7A-55D7C8A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648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Toy boundary: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our trace uses h=1 and dₕ=2; WO maps the two head features back to d=4.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09375F-A53B-4DAA-B0E8-39DD5BDF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30E34-DB81-4681-AD7D-C354DF8D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92AF2-F7E1-4E04-B088-6B78183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A858E0-421D-4EA0-8461-41DB378D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1 head in toy</a:t>
            </a:r>
          </a:p>
        </p:txBody>
      </p:sp>
    </p:spTree>
    <p:extLst>
      <p:ext uri="{BB962C8B-B14F-4D97-AF65-F5344CB8AC3E}">
        <p14:creationId xmlns:p14="http://schemas.microsoft.com/office/powerpoint/2010/main" val="18410666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3F929D-96C1-4E2A-AC70-8A5A00AE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Attention Output Re-enters the Residual Stream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83A92-ECC2-4BFD-A375-C8CF7CC4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AF3FB-E7AA-4795-AFBC-86C1A724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8FD5-9AE4-457B-8574-49935A9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651DC-62F5-4BB8-8F71-464BB951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A residual connection adds the sublayer’s update to the vector already present at that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FF1FD-6FFC-493D-A8DD-96F98810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R = H⁽⁰⁾ + CWO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9C1F9-5C27-4B85-9936-F88263A5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4E257B"/>
                </a:solidFill>
                <a:latin typeface="Cambria Math"/>
                <a:ea typeface="Cambria Math"/>
                <a:cs typeface="Cambria Math"/>
              </a:rPr>
              <a:t>h⁽⁰⁾(cat) = [0   0   1.732   1.000]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8333E-C3F4-4738-89BA-0980E51B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006A5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006A5F"/>
                </a:solidFill>
                <a:latin typeface="Cambria Math"/>
                <a:ea typeface="Cambria Math"/>
                <a:cs typeface="Cambria Math"/>
              </a:rPr>
              <a:t>c(cat)WO = [0.372   0.628   0   0]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6FB14-EFD7-4DE8-991E-2A1E36E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1B9A9-62DD-409E-9DA8-035F35B3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r(cat) = [0.372   0.628   1.732   1.000]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14DF3-0E12-4045-BC7A-CA93EB0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762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4C615-06BC-4F66-BC43-11D1A80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RESIDUAL 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F19A5-2DCD-4800-9DED-2DBB0D8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45339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d-dimensional workspace that flows through the stack. Sublayers propose updates; residual addition preserves a direct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5C540-23D3-4DF9-912B-277869BC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4762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D2F00-1CF9-4862-9C41-24BF816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453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OUTPUT PROJECTION · WO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D001D-792A-41AC-9D88-84C67F23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86250"/>
            <a:ext cx="45339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Combines head features and restores width d. In the toy, WO places the two head outputs in features 1 and 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9AC51-BB68-43D6-9F41-7C122C42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052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Interpretation: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 writes a context-dependent update; it does not replace the original state wholesale.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C6C07-2B67-48E6-AAFE-7435BAA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E0CA1-F789-40B3-B02D-F2467B8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E373A-9374-49D8-A997-9E70F13A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995C7-5889-4565-A644-D7983564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r(cat) ∈ ℝ⁴</a:t>
            </a:r>
          </a:p>
        </p:txBody>
      </p:sp>
    </p:spTree>
    <p:extLst>
      <p:ext uri="{BB962C8B-B14F-4D97-AF65-F5344CB8AC3E}">
        <p14:creationId xmlns:p14="http://schemas.microsoft.com/office/powerpoint/2010/main" val="19187109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B4FCDA-8CAC-4B2D-84CD-AF281F7C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MLP Transforms Positions Independently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0A730-9EF3-4CE4-BFE1-323409AC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5CB58-9473-45C0-A5CB-2E03457F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37CF5-297D-41D3-86AB-1DE82F2E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00F38-8CD1-4F9E-BDD6-B75EE532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Attention mixes across positions; the feed-forward network applies the same learned function to each row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C3AC2-DD93-43CE-A14E-043249C6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049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MLP(x) = [SiLU(xWg) ⊙ (xWu)] Wd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10C26-673C-4A96-98F1-707464C3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rPr>
              <a:t>x = RMSNorm(r(cat))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26702-65FB-4B3F-9DD3-CF7E80C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64B64-50FE-4597-A84E-45C0B002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25CD9-909E-46E4-A41E-54154875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479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31824-8F1E-4765-8C33-7665BF7B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669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value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E818B-35C8-49FD-A280-E4D05406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D1744-0482-4CF9-B979-9DC18054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669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value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EB6E2-17CC-46AC-9AD5-7077CFFF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DA507-D258-401D-B1DF-5823A41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value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AEB75-0DF2-4B13-94CA-1EC9F5E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479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1DF49-E952-4579-9272-038AB7DB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669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shape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7276B-97EE-467D-9891-59E7324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CC3B1-B2A7-46C5-9078-15F271EF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316822-82E9-4B7E-B050-6C46C26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051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1C094-51ED-4F34-9B46-7D502AA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0.350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B27D1-DA67-474D-B00A-05961DC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051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9698B-9FF2-4709-9B40-D1ECEBE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241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F78B9-BA66-464E-B10A-CC834ABC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EA7A0-7522-40FA-B440-6C6E898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1.627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D3871-92AC-4772-9501-B62C61E3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BB402-1D9B-4A34-8A5D-4D851FE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241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 × 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4BE01-58DF-4CCF-B240-E02FDA3C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CD265-D285-45CD-9171-F5668DE3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g = xWg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BDC64-8605-4251-BF56-4530423E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2042B-DD47-4C5F-87C8-33444547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0.350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E5A4C2-B1BC-4D96-8154-6E092CC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623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B93F9E-BF47-452E-B924-08B64B36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813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40AFAA-BED1-4885-84D9-DDEBAD82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623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E91052-D779-4BCD-8BB1-1581D5E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1.627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C4CAD5-B484-4D14-9BDE-21ACF942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623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2A67BC-856D-4754-9E7C-B4878CE5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813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 × 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DA0FC9-5204-4AC6-BF6E-0D1A542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B18445-DDA2-4EEA-889A-1A962DE1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u = xWu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E87B6F-B24A-4CC3-8F57-BE9CC1D7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195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0C905A-350A-4908-81E0-E3699B6E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0.350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B337CE-C80A-4E82-BFE3-F9D80100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657E5E-9AFE-46B6-A883-98F5869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385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0.590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186452-1C83-4BD7-AF57-25F9934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BCC631-CE99-4F68-BB5B-31A0E8CC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385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1.627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59E81B-B593-4937-997B-07EC6DC2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195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01F686-B2A4-46A7-9926-E76C5241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385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 ×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1C0B9C-6F0E-4320-8C67-D4430BA8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C41AF5-72DD-4F05-9744-1159C2A0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SiLU(g) ⊙ u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3BFE75-ECDD-4B7B-A340-4D4C1CFB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767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B8BCA6-0DEC-49F5-A36C-D2ACF341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957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0.072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B9E154-D2B3-467E-A3DC-38315681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767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A50ECE-96EC-424F-BA85-4E0B604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957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0.224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0C28C7-F3B5-42EE-A83F-67BFA62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767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FDACDC-D246-4732-9067-76EFE5EA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2.213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04C769-FD61-4E2C-8091-DB94E261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76700"/>
            <a:ext cx="2143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52D3F5-4513-48FB-8B7D-DF9710B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95750"/>
            <a:ext cx="2105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1 × 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5B50E3-5008-44DC-8CFA-35A6C458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 i="0">
                <a:solidFill>
                  <a:srgbClr val="006A5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006A5F"/>
                </a:solidFill>
                <a:latin typeface="Cambria Math"/>
                <a:ea typeface="Cambria Math"/>
                <a:cs typeface="Cambria Math"/>
              </a:rPr>
              <a:t>MLP(x) = [0.022   0.067   0.553   0.221]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9C569C-4833-49E8-BF92-27225D27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4E257B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 i="0">
                <a:solidFill>
                  <a:srgbClr val="4E257B"/>
                </a:solidFill>
                <a:latin typeface="Cambria Math"/>
                <a:ea typeface="Cambria Math"/>
                <a:cs typeface="Cambria Math"/>
              </a:rPr>
              <a:t>h⁽¹⁾(cat) = r(cat) + MLP(x) = [0.394   0.695   2.285   1.221]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F8D971-C67D-4A6E-B834-454D25F0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34025"/>
            <a:ext cx="1064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Shared across positions: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weights are the same for &lt;bos&gt;, the, and cat; only each row’s activation differs.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C7A33B-D2BF-49AD-A25D-B2060906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7001A6-5C8F-4202-8D94-47387BB5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F73826-6674-4630-8C18-ECFB1CBC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697A953-DB6F-4B0E-9347-76AF1C53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after MLP</a:t>
            </a:r>
          </a:p>
        </p:txBody>
      </p:sp>
    </p:spTree>
    <p:extLst>
      <p:ext uri="{BB962C8B-B14F-4D97-AF65-F5344CB8AC3E}">
        <p14:creationId xmlns:p14="http://schemas.microsoft.com/office/powerpoint/2010/main" val="6133218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568248-A526-481C-AFEE-2A3602E8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 Decoder Block Is Two Residual Transformations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4CAA2-7098-4CEC-AB2F-63B2EC5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92E05-9A40-4946-B972-F4279F5E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D7D64-5AAB-48A7-95EA-7080E769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F3BEC-4067-4321-80B7-898C4F47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In a pre-norm decoder, masked self-attention and the MLP each write an update into the same residual stream.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181BD-161D-4584-BE99-CF85246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2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R⁽ℓ⁾ = H⁽ℓ⁻¹⁾ + MHA(RMSNorm(H⁽ℓ⁻¹⁾))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3DD72-B512-4D7E-812C-CAA6AE3A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764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H⁽ℓ⁾ = R⁽ℓ⁾ + MLP(RMSNorm(R⁽ℓ⁾))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04952-347C-42DA-8D04-B6676F7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33EEF-5E46-4F5B-8475-F42235F1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H⁽ℓ⁻¹⁾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7B66C-9A7C-46A8-8008-05FDE6E0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3C9C2-4E7E-4659-93B1-B88E6C1A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194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ECD1C-7045-4314-B639-55BDB075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5750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081AC-DA93-47C5-90F9-60E24D51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33700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Norm → Masked MHA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0CE89-1463-4887-9D6F-905B64D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813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17EB1-001F-4D17-8A88-3916AF7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194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D2F3F-26FF-4938-BC43-C7B791DD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9C3FA-93DB-4E61-BB70-BB19E7B6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residual add → R⁽ℓ⁾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9FEFB-D430-479E-8425-E3434F04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528F8-3908-4ABE-915E-685E284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C96E6-48FD-4FE2-AEE8-2EF7C92D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B93AF-8CCC-4251-B158-AB7A1B4E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33700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Norm → MLP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B7EA1-411D-4D0B-B740-88717442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813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5559B-8AD7-4A94-A482-D6EEBF5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194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1AA80-3B0B-4178-9662-EE8FED3E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80975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EF090-4740-4927-9A35-F5C7F8EB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33700"/>
            <a:ext cx="1581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residual add → H⁽ℓ⁾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53930-6E6D-49A5-BBFE-77CB4D4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13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B0E77-37CE-4214-9CB1-B08CF5C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1064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Decoder-only constraint: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self-attention is causally masked; there is no encoder cross-attention in this architecture.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Depth: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repeat the block N times. Later layers operate on features already contextualized by earlier layers.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Variants: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post-norm, parallel residual branches, grouped-query attention, mixture-of-experts MLPs, and other choices modify this template.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75D050-1061-4A1F-99FB-1CC510C2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1DC2F6-100D-47BF-8662-B9147877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84A18-F8E5-4219-AC35-A54B5F15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F73C6-5388-42A4-8D51-32E03AA7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one complete block</a:t>
            </a:r>
          </a:p>
        </p:txBody>
      </p:sp>
    </p:spTree>
    <p:extLst>
      <p:ext uri="{BB962C8B-B14F-4D97-AF65-F5344CB8AC3E}">
        <p14:creationId xmlns:p14="http://schemas.microsoft.com/office/powerpoint/2010/main" val="1303195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86CFAF-B212-4FB1-9519-F77F216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Final Hidden State Becomes Vocabulary Logits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EA2E6-138C-4135-8394-1CCE9660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E1583-60A5-4102-BAC2-83428DC1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C42A1-1CCB-4C46-9464-35D92612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A48C-F2ED-4954-94B2-17768DE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The last position is compared with one learned output vector per vocabulary item.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1A8BF-E65F-4DC6-BCE9-AC3B6A70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144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ĥ = RMSNorm(h⁽¹⁾(cat))        ;        z = ĥ WU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7B175-5415-488D-BF5F-0C6B6763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811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625D5B"/>
                </a:solidFill>
                <a:latin typeface="Cambria Math"/>
                <a:ea typeface="Cambria Math"/>
                <a:cs typeface="Cambria Math"/>
              </a:rPr>
              <a:t>ĥ = [0.291   0.512   1.686   0.901]     ;     WU ∈ ℝ⁴ˣ⁶     ;     z ∈ ℝ⁶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3B5F1-D0A9-47C9-B097-9C5B4A9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CC7B8-7C81-4677-907B-38148C0A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candidate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BC233-FABD-4CEB-9A97-271EAE4E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371C7-7DB5-46E4-B236-5921426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4057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output vector u(v)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09E03-5921-4B04-840E-3FEFA33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884AE-B1A1-4566-A3B7-ADE05318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logit z(v)=ĥᵀu(v)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EE6B9-D261-4A18-A734-D36F68DA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4D583-4D86-4B2B-96AC-541BB88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2438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D9705-F12A-43A2-BD4A-D3B5D6A1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C88E0-ED36-4942-AD6B-F9717EFC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D7211-B196-4EDB-804B-1C967CFD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71775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77E9D-2633-4F47-8A45-06ACD816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90825"/>
            <a:ext cx="4057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[2.000   0   0   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97761-14A1-426F-AE35-FFBB6FC0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71775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43A4D-C0C7-4163-893A-6023435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0.581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2569B-3784-414F-B35A-C0B3D10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717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64960-AF2D-4CEB-9691-806F9FB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90825"/>
            <a:ext cx="2438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competitor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39ABA-BA4D-45BF-B330-4CBE3D7C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7ADB5-A75F-4980-9107-19528346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8150C-ABEF-441B-AB2B-29AE8826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C24E6-AA7A-4EB8-91DA-97B8643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19450"/>
            <a:ext cx="4057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   2.000   0   0]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E4E6C-FBE9-4DA9-913C-AA0B816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B3152-E133-4936-A647-08282CE4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1.025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45358-AB6D-488D-97C5-7FA2ECA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91CDB-DCDB-467F-A361-6403C96F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438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competitor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80B07-8E49-427F-8C3C-38959A85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4E1DF7-48DA-4CE9-B153-9E7C18EE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78051E-EA8F-479A-B0DA-802B691F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29025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96AF28-7DC2-427F-B8CF-05917D93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48075"/>
            <a:ext cx="4057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   0   2.000   0]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A3A9F7-809B-4B30-96FF-041A2802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29025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46F5D-051F-4367-AC53-D4980F1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48075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3.371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5E6E30-C3B4-4A70-9B98-E30E23D9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9FCCB-DD4F-4946-A89F-8F6DBF3B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48075"/>
            <a:ext cx="2438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competitor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3C3201-6B5A-4F2C-94C4-E32EF743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9FB7DB-B444-4E13-8A22-AFF03A88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sat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31C63A-09E3-4B38-B62B-FBE98D56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5765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24E2D9-BC1C-45A0-A315-E64EC6C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76700"/>
            <a:ext cx="4057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[0.200   0.600   2.300   0.400]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E4B404-E2AD-4299-AD0E-2DA49AE9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D1AC01-8A94-47BD-917F-429C6E65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4.603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7548B6-7E99-43C1-A6B8-E84473BA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C27C61-7E57-45E5-8558-124918E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76700"/>
            <a:ext cx="2438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highest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075058-11DF-4485-A161-E56DBBBD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A95DE6-95AE-4381-8947-EFFB6B33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slept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527E67-1C35-4718-ADBE-246A82EC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86275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C2B6B3-668E-4622-B1BF-5AE86F19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05325"/>
            <a:ext cx="4057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[0.100   0.800   1.800   0.600]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573F99-D555-45A8-991A-6418E540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7A723E-8925-44A8-A83D-E6E4CDF0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05325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4.014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8DC93C-E013-4ECF-8623-F4246385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86275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ADEFDC-70B3-4BC6-8D60-3EC3BEC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05325"/>
            <a:ext cx="2438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competitor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F37DDD-53AB-43F1-9E0E-120642E9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5BACA2-84BB-4143-A9FF-FE62F756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676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D7396B-06D2-46FD-8133-A50B024A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4095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F9E275-0F20-4BDA-9A28-79A42CE1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33950"/>
            <a:ext cx="4057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   0   0   2.000]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DA03A7-35CC-4BDF-AFD3-8A9948E7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14C3FC-8796-41A6-8454-6AFE185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33950"/>
            <a:ext cx="1962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1.802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55436B-A8A3-4A6A-906B-1C120330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247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C4D9A0-2528-451D-BEF3-F1A4E98B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2438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competitor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A2BBD8-79AB-463A-A1A5-54534D16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Weight tying: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this toy sets WU = Eᵀ. Some models tie input and output weights; others learn them separately.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1FC7A8-842E-49B6-8858-50BB19F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EE4AEE-AC09-407F-8C40-CA71EB22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52DEEC-87C9-4EBE-BDD2-667DBE8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0B0CF0-4D49-4462-BBFA-35705A04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z(sat) = 4.603</a:t>
            </a:r>
          </a:p>
        </p:txBody>
      </p:sp>
    </p:spTree>
    <p:extLst>
      <p:ext uri="{BB962C8B-B14F-4D97-AF65-F5344CB8AC3E}">
        <p14:creationId xmlns:p14="http://schemas.microsoft.com/office/powerpoint/2010/main" val="20710788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C0380A-EB7E-40D3-86AF-F7B60B07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3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3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Softmax Converts Logits into a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689D8-32CA-4165-8AEC-DB5A0A93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5F2B2-5C41-4EE9-80DA-137D0FB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E5C71-86D0-4579-A51A-405025F2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663E6-C8EA-4290-88A7-0CA33D12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Only relative logit differences matter; temperature rescales those differences before normalization.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7F791-636C-4358-8325-20DB8563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954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P(v;T) = exp(z(v)/T − m) / Σⱼ exp(z(j)/T − m)     where m = maxⱼ z(j)/T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217F7-D2CC-4D8F-B593-707ABEE0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8ADF1-B56D-49A3-9B64-E12D7C73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193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68AF3-85C6-4891-A662-A36AAD07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00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C710A-EA31-4B05-A9EB-748CD19E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0193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logit z(v)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72375-1C6B-43EB-A83D-4808B7B2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00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76739-0F6D-4FCD-9E8E-737953D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0193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P(v), T=1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C5B65-C15C-46B8-8E79-76589657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6EB90-8F4F-4AB3-ACAA-717C15B2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193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training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EFB6-1987-4797-BB3B-15DEBF8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38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77F6A-7B5A-49B6-A6EB-EB44DC2B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2AB4C-7265-4B05-B76A-84CCDFE9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38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5C92D-1E85-4D9E-9B88-40A68AA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574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0.581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FA64B-9C10-4CC9-B7DC-4F2E67AD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7FA0B-197F-47E4-9F4B-460FB11B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57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0.0092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71C54F-42B5-4B0B-A28A-91D141CC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384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CD5CA-EAC7-45FA-8033-AB25C4CE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574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not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54B6A-F50F-4CBD-B923-FF8BC34D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8C56D-0882-4E07-8B54-A521438C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956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EED1E6-3950-492A-B633-0E4E403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76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B3768-6A34-4D1C-9949-FE04F4F5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956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3E9AC-3935-4504-A2D6-E554A054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765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4F178-EEC5-4647-937D-2D63B934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956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0.0143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C32E60-19DE-4233-B080-77F84C8B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765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DE9FA-5440-471B-80E6-7D99D746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not 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727CAD-C4E6-4890-85F2-132F1A0D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1EE886-8575-48C6-B65B-0A864C38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337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BD8665-7FC3-476A-B183-57A506B8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14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DC0237-9D19-4E2F-AF1B-A763408A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3337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3.371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E2C0E-9316-48A7-8B59-BA2EF245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14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843F97-26CE-4BE5-9B4A-334A4DB1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0.1494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472DA2-9398-47DE-8167-E3D08DE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147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50C655-8300-45C5-B082-4DA0E62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337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not target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A4E99A-8D28-44B2-8021-B25D405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F6C594-CB4D-439A-B628-1D4B67F8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719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sat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91F521-2521-4DF0-9EAF-309E1B18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52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09AF9E-6B4C-4C3F-B1D7-1A4AE1AA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7719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4.603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1BF260-F086-428D-BDBF-350D71E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528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5FA7DB-3138-4984-A2C3-80E768C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719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0.5120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3B49ED-9EEF-4F1A-ACA8-F8BE75F0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528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3EE714-987F-4202-86EA-8AADD326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719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y=sat · correct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0BF0E1-5A63-4161-A7D6-3F90002F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16AFE7-4B65-4F92-944C-86BB91B7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100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slept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09ECAE-BA98-401C-8DB2-CAA454D3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91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A17886-2499-48CA-ADB8-C08D7F11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100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4.014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1C04E7-1B80-4AA1-B34C-E38F6A13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910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5415DB-EC10-4309-B08C-3F6B72C8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100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0.2840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D14DE9-45C0-4FAD-B6D9-15F96F96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910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8A712D-0BAD-40BE-B257-A7508ED2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2100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not target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5BE24B-F27F-4B03-A86E-6D174747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29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56791D-F606-4F88-B839-1AB642C8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482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5F8963-0A07-4261-9EB7-A9D2FE5C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29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633A60-AC13-4148-B568-91D3FE48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4820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1.802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CBA557-F757-4110-BE37-849CEAC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291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9B4F0E-1A9A-4332-810B-AA4BBF49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48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0.0311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E51339-9C3E-46CC-8F25-FAFBF1AB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6291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1F1BFA-F758-475F-B68B-4671B4DD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6482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not target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1DD800-5BDE-4D36-AE6B-33E7B6B6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7241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FB56BA-BEF2-4CFA-B26F-55FB3F5F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49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CROSS-ENTROPY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05CCC2-15A7-4845-9267-DCB02E08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2495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ℒ = −log P(sat)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= −log 0.5120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= 0.669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550952-4767-40A0-95C2-57AAEBCD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7241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12ACE9-C42B-43B8-B822-F477F7EE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76650"/>
            <a:ext cx="249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TEMPERATURE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71CC0D9-80AF-4097-AC11-76CF223F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24300"/>
            <a:ext cx="2495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 &lt; 1 sharpens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 &gt; 1 flattens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argmax is unchanged for T&gt;0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D009D6-5374-41B5-8F1F-5807AD64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Important: </a:t>
            </a:r>
            <a:r>
              <a:rPr sz="13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temperature belongs to the decoding distribution; it does not retrain or alter the model’s weights.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5D3BFF-A235-4D6F-84BF-B914AF74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304AAB-DBFB-4DDE-B3AB-67C93017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4513010-D0A8-4716-9042-14FE609E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C84566-E3D9-447D-B507-F5DD749E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P(sat) = 0.5120</a:t>
            </a:r>
          </a:p>
        </p:txBody>
      </p:sp>
    </p:spTree>
    <p:extLst>
      <p:ext uri="{BB962C8B-B14F-4D97-AF65-F5344CB8AC3E}">
        <p14:creationId xmlns:p14="http://schemas.microsoft.com/office/powerpoint/2010/main" val="13873329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59D729-BC11-494A-B9C0-43B6985C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Cross-Entropy Produces the Backpropagated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A8589-9954-46AB-89EF-3478525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B3E77-BF28-4F30-950D-D09F2CF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1353F-AF52-45D9-BED3-40E524D1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018A0-E8E1-43E6-A013-CDE3FDA8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For softmax plus cross-entropy, the derivative with respect to every logit has a compact 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B87B8-9026-4F9D-B22B-CB5DF608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144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∂ℒ/∂z = P − onehot(y)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E1F1F-44CC-4038-B0DC-6C1F4CE8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58F18-3512-456F-A931-631CA2E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9EABA-624B-4680-94B2-26B8BA5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526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5BA17-AC14-42F2-9226-2CFA70EE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7167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P(v)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C9575-5B53-455B-9B31-668397ED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9526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E1E89-30A2-4E18-9B7C-3FB591B1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7167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target y(v)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144AF-4FFB-48F2-A0CA-C03C0526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9526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66251-2D5F-49AA-8BA6-B74DA15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71675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δ(v) = P(v) − y(v)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FD8E4-3322-4AA8-AEFE-6F46E9E4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E1468-787C-4BB1-B09F-665DA5F4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8DF68-D6AB-4CC4-B65E-3CF45742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3622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09D66-FF0B-4E9A-979F-9E939445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81250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0.0092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B1A95-D909-4C08-A3F5-51A3D2C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622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8720A-AF67-41B5-83B7-27F7722A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81250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837D7F-3A1B-4B8F-9624-DF913638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36220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0D8F6-B253-442E-B181-69A3EF6E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381250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0.0092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E5B1B-810A-4C49-8831-7BF72740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08ED1-C30E-4266-8938-E1384BBF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C55A2-8311-4627-A3DA-1D8FD7EE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32F6D-1578-425D-8E9A-BECB2C99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79082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0.0143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46F10-380D-46B5-AB8A-B3C13E20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7717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2713FA-5B20-44A2-8024-8826F67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9082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B9681F-3CCC-4DBD-8629-E456646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7177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BB3C0-7DF4-4BDE-AE5F-59E8FAF2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90825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0.0143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AE9C6E-1558-4D18-8104-17716555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C919AC-2C79-4BAD-9278-E60B606F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F485B2-F6CC-4462-8A89-1EC75632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813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A67A3A-8E49-4550-B6A6-97E8104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200400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0.1494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F29BFB-2C4B-4960-AC55-487DE01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8135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752FDF-3A9A-49CF-AB8E-37ADCE14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00400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BEF832-710B-4A7D-AE13-3292234F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18135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EEC225-2BED-4B01-8D8B-845FEC36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00400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0.1494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E7DB98-9CAC-47B9-ACD0-DAD07BEE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A1F4B8-D3D9-4FBA-9E18-7CBB2824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sat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00F4D5-17DD-4050-AFCD-E206EF7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5909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C9F9C-83D7-4450-87C1-A3CA6D9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0997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0.5120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D72CEC-D56B-4826-8B65-10F71343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59092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182789-0B94-4BC9-A060-FD0274B1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60997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987403-5807-4E3A-BBB4-81370D82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9092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C5DCFB-72C8-4AC0-BD96-82DB3FD3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609975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−0.4880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13C678-FF24-4483-8BCB-00C5082C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608282-C4E7-43D0-A3CF-C50C70AB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slept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10FDA8-850E-4FD4-A710-A8248EAE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005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71E61A-11AD-40FD-8AAF-8ED1358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19550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0.2840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C6D3F0-49E8-49C8-81DE-05CC594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00500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E0EDAB-3570-4C65-9F21-DBBA1DB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019550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8E1228-0B13-437B-AC34-904E56D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00500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4833EC-61F5-4898-8694-F418B83C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019550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0.2840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CD0B58-CCC6-42B0-B631-EA6C51D7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15C7EE-F5D6-4A32-8DCB-1FA505B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FD1786-7102-4FB9-AFC3-5B21503B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100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88D528-6B62-44AC-A63A-41B7D6CD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2912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0.0311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B5416E-CAC0-4D45-AEAF-73A2BA8D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10075"/>
            <a:ext cx="1714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FF82D0-30DE-4F11-91EF-85CBEBC8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429125"/>
            <a:ext cx="167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D7FBE5-AD03-474C-A541-55DAD714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410075"/>
            <a:ext cx="238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D4EC3C-43FD-4F93-AFD8-BDD8A80E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29125"/>
            <a:ext cx="2343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0.0311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FAEC69C-A037-44B7-8345-1899A14D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06705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2E3872-A1A5-4BC1-AE64-0F328060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2882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OUTPUT-WEIGHT GRADIENT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04EF2C-23B5-4DD3-8B44-6EBEFC97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76475"/>
            <a:ext cx="2838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∂ℒ/∂u(v) = δ(v) ĥ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For sat, δ(sat) &lt; 0.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D4C74D-8D9C-4743-A23D-60908DEB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3067050" cy="13906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2A4FA5-EFB0-4A23-AD5B-987DEB8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4807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ONE SGD STEP · η=0.1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7DD2734-7787-4549-982E-43BBC93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95725"/>
            <a:ext cx="2838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u(sat) ← u(sat) − ηδ(sat)ĥ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old: [0.200   0.600   2.300   0.400]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new: [0.214   0.625   2.382   0.444]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4A26D3-D95F-4F17-A7F0-E8BD9C1A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706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6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Effect: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target output vector moves toward ĥ, increasing the sat logit on a repeated forward pass.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6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Backpropagation: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the same error signal continues through WU, RMSNorm, MLP, attention, and the embedding row.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F8B55D-C71A-4A8F-AF76-264CBF6E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5986D8-6193-4C0A-A45B-4DF4B0E4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F1AF1A-52CE-41E8-B7E7-89405C0D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D01A74-8543-4914-8AA2-4847F7DF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δ = P − y</a:t>
            </a:r>
          </a:p>
        </p:txBody>
      </p:sp>
    </p:spTree>
    <p:extLst>
      <p:ext uri="{BB962C8B-B14F-4D97-AF65-F5344CB8AC3E}">
        <p14:creationId xmlns:p14="http://schemas.microsoft.com/office/powerpoint/2010/main" val="10145193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7AF547-2575-45BE-802D-42BDAC54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Inference Freezes Weights and Repeats the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A76A1-6410-4A2B-A557-73667BC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D46EB-8B80-4F47-B7A5-8409290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06972-E7B9-43DC-AF18-ADE56833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4D4EE-1568-4564-8357-23C58124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One forward pass produces one next-token distribution; a decoding loop turns repeated passes into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2BE15-B118-4158-BB3A-A690FA7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00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A0491-8F8F-4956-8075-4135ABFD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1 ·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2AF06-32B2-406E-A23A-ECFDEE86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A59C7-8614-4135-AFA4-09CBFD81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860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B27A4-1278-4ED3-BC1B-D77865FA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2000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E5F7"/>
          </a:solidFill>
          <a:ln xmlns:a="http://schemas.openxmlformats.org/drawingml/2006/main" w="9525">
            <a:solidFill>
              <a:srgbClr val="4E25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18886-1E95-4652-8705-95CF8BF7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859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4E257B"/>
                </a:solidFill>
                <a:latin typeface="Georgia"/>
                <a:ea typeface="Georgia"/>
                <a:cs typeface="Georgia"/>
              </a:rPr>
              <a:t>2 · FORWARD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AEE92-BD8B-45ED-BD4E-9994720E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336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static θ → logits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77B4E-0D07-4A73-8DF9-6F46EB93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60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B12F2-0FED-4B49-B40E-5D4BD26C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2000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7E0D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5A247-0FBE-4115-BF4B-D7CA2F45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859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3 ·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A7026-9071-45F6-A9F5-AB749086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336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temperature / top-k / top-p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8BF66-11DB-41D2-BA13-23E1BBD9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32DC5-C155-48E0-A32C-4B0835DD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000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006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8339A-AA35-457D-ACAA-75779F0A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4 · SAMPLE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67606-02B4-43F0-88DC-39C45BF8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sat ∼ Categorical(P)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BBB04-0CE0-492C-B033-9FAE710D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86000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65350-3982-42D9-A151-F7FACDEB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2000250" cy="1238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0D0"/>
          </a:solidFill>
          <a:ln xmlns:a="http://schemas.openxmlformats.org/drawingml/2006/main" w="9525">
            <a:solidFill>
              <a:srgbClr val="8559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97AB6-2BC4-4B3E-AC32-76EE7AC0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85950"/>
            <a:ext cx="177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855900"/>
                </a:solidFill>
                <a:latin typeface="Georgia"/>
                <a:ea typeface="Georgia"/>
                <a:cs typeface="Georgia"/>
              </a:rPr>
              <a:t>5 · APPEND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245B6-4502-41D6-B9CC-A2856944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33600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sat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26FCB-1CEA-43EF-951F-0A37AB5B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57550"/>
            <a:ext cx="852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1332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B8CE9-AF51-42FC-8E60-5A543C6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514350" cy="2571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A31332"/>
          </a:solidFill>
          <a:ln xmlns:a="http://schemas.openxmlformats.org/drawingml/2006/main" w="0">
            <a:solidFill>
              <a:srgbClr val="A313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D1711-2941-4CCE-8DF6-B8F1422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52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repeat until stop token or length/policy limit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6A43C5-13B2-4C7F-99E2-212C18C9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7442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8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Greedy decoding: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choose argmax. Deterministic for fixed logits, but often repetitive in open-ended generation.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8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Sampling: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draw from the filtered categorical distribution. Top-k limits candidate count; top-p limits cumulative probability mass.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8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Seed: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initializes a pseudo-random generator, but reproducibility can still fail across hardware, kernels, batching, or implementation versions.</a:t>
            </a:r>
          </a:p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8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KV cache: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stores earlier keys and values so generation computes projections for the new token instead of recomputing the entire prefix.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E24CF-DD05-4806-B06A-D0BB75D8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D6141-EF01-44B8-BDBF-7DE1F3AA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0E3A0-BEB8-493F-96AA-3F25F61F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591FDF-BCF9-4743-B45E-9F0FA4B4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append sat; repeat</a:t>
            </a:r>
          </a:p>
        </p:txBody>
      </p:sp>
    </p:spTree>
    <p:extLst>
      <p:ext uri="{BB962C8B-B14F-4D97-AF65-F5344CB8AC3E}">
        <p14:creationId xmlns:p14="http://schemas.microsoft.com/office/powerpoint/2010/main" val="728314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2484E-F86E-46FA-A5F4-0B1BF426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375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What, Exactly, Happened to “cat”?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3B8A-5D1B-4F02-BBB3-C603DB68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CHAPTER 1 ·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F3BCB-9E89-403F-92B5-6868BB1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31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FCA22-B662-479C-A362-83861E34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151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A31332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6756B-33F6-48F9-B0E8-BDE7632E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625D5B"/>
                </a:solidFill>
                <a:latin typeface="Georgia"/>
                <a:ea typeface="Georgia"/>
                <a:cs typeface="Georgia"/>
              </a:rPr>
              <a:t>The token did not travel unchanged through neurons; its position acquired a sequence of increasingly contextual vectors.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90C2D-FA08-47CD-BBA2-A99DE4FD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4CA4D-5837-4F36-9011-82A6450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446AA-2E56-48E4-89CC-782BBF43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428750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262EE-C547-461B-9251-182A3E4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478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object /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E27D3-CBA2-4FA0-B4FE-11049D6B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42875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B6F9D-4EC4-4549-8837-7144BCEE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47800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our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30F6F-A7D4-4CA0-8D3D-39854E64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3E8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B6FCB-4CEF-4BCE-8486-4C5E8251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47800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1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what changed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E6AAA-722B-449B-B2E1-493F52D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3011E9-91A9-4866-814F-D46D6320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1452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C1F76-D079-4AE9-A898-555552A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95475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E93BD-CADA-41DC-AB98-507ED24A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1452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ID · scalar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65D0F-65F4-4C50-BFDB-44C0021C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9547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26573-F053-4A16-88D4-4D4E7DCE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14525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cat →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0313B-1B71-4377-A6AA-00951E26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95475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F575D-1B5A-4BFB-99C2-1E24FB30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14525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text became an address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BA02F-E142-4364-899A-3486FEA3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06A76-4670-4FB8-BF94-BDE34AF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lookup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61C5B-E652-46FB-AF65-C395915C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62200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510E0-4DE7-40E1-A9CD-41B8C1F8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e(cat) ∈ ℝ⁴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DE6BE-DC5D-4BD0-A855-19B01D1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6220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3BC06-1F27-47F3-9BE7-376C9EEB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   0   2.000   0]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B2F90B-950C-476D-81BA-704D5A35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E881A-D8BF-4B11-9F53-1E99373A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row 2 of E was retrieved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7AB19-ABF5-477C-8A86-86C7F04A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28925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8FFB7-169E-4BC7-B79F-79BBD96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position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E1F1F1-2944-43D7-9CC7-8BCEC1D7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28925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570B0-F63F-44B0-8117-D99E11A9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h⁽⁰⁾(cat) ∈ ℝ⁴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DD1473-298D-4E4C-BF00-C308A5ED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2892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3DCD6-60D8-43B4-BA54-CA7D87B4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47975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   0   1.732   1.000]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B0662A-5EE5-4132-8865-9036F49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28925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76B0D6-F59A-43E2-89F8-9F63B52B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47975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identity + position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37A6B-BFB3-4B6D-9CD6-C997AB8C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BF951-7D42-432E-925C-5E2C396D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5C42E5-56EC-40A6-95A7-09570E0C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855EB2-6BEB-47C7-B309-70AF0216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147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c(cat) ∈ ℝ²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E9F5ED-036F-442C-A8B0-5F86B0A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9565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DA085D-51B1-4B4E-8446-865B6C1B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[0.372   0.628]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332CC7-E978-4C21-AFCF-586F2122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B76567-A022-4C3D-8257-AC6D4DA8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earlier values were mixed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4EB48B-8303-41E7-B1A1-92D1F90C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9DC89C-91A8-441C-B693-F2F8FF70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8142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decoder block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0BE74C-E9A2-4B0C-A350-508C2C72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62375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A08AF7-F39E-4E75-AF16-ACD02C9D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8142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h⁽¹⁾(cat) ∈ ℝ⁴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9C9F8C-E034-4004-B021-09D6782D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6237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BD7DD3-6C6E-444B-97E9-785947BD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[0.394   0.695   2.285   1.221]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29B654-37E3-45DC-AAD2-9DC2A456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62375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6A554F-356C-4BD7-AE76-12767B8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attention + MLP updates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E9C841-879C-47BB-9CF0-FA55990B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E12B9F-FC8F-47DE-9329-A127FBE8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unembedding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5684F0-3071-4F84-A44A-DE178F8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29100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BB6879-A91B-4120-BA7B-6EB0BE3F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z ∈ ℝ⁶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DC0870-281C-4A75-B7CD-341EAA2D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2910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3B20B2-E5DD-46BA-8FF9-20699F56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[0.581, 1.025, 3.371, 4.603, 4.014, 1.802]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250A9B-03F8-4BAF-ADE3-C70D8AB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26B67C-3B6F-4E07-B958-A4BCB6E0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one score per token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BF4C65-9344-4F61-834B-D60FDB3F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C678FA-72EC-47AB-AB89-22428ABA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softmax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9F8513-2D02-46F1-B323-B84C7B57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95825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45EEE14-1B74-4CE2-9E1B-4D8DD20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P ∈ Δ⁵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B43B19-3622-404D-A0FB-53D4A427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95825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EB813A-D82F-455A-B80E-698348BF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P(sat)=0.5120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278187-2CCB-467A-B2E2-B8727CF0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95825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F2131D-E5A1-4B65-839D-7FF899E3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14875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71516"/>
                </a:solidFill>
                <a:latin typeface="Cambria Math"/>
                <a:ea typeface="Cambria Math"/>
                <a:cs typeface="Cambria Math"/>
              </a:rPr>
              <a:t>scores became probabilities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8B125E-CE73-498D-8285-27478DC4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1428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6F73C4-8F88-4212-8EE7-70837EC6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139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7E0D27"/>
                </a:solidFill>
                <a:latin typeface="Georgia"/>
                <a:ea typeface="Georgia"/>
                <a:cs typeface="Georgia"/>
              </a:rPr>
              <a:t>decoder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AC429D-76BB-4EE4-9BCC-EA3B3336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2000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A1E157-124A-4CE1-9FEE-569F2764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81600"/>
            <a:ext cx="1962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token · scalar 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BD0496-A9AA-41F5-9AED-762D5DA3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4191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A3CB78-64D6-490E-8580-3ACAC986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4152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sampled token = sat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373663-680F-4D45-99BC-F4C9874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3714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D"/>
          </a:solidFill>
          <a:ln xmlns:a="http://schemas.openxmlformats.org/drawingml/2006/main" w="9525">
            <a:solidFill>
              <a:srgbClr val="D7CFC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8AAACC-B0C4-4111-A8AE-BDB38861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81600"/>
            <a:ext cx="3676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0" rIns="2857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7E0D27"/>
                </a:solidFill>
                <a:latin typeface="Cambria Math"/>
                <a:ea typeface="Cambria Math"/>
                <a:cs typeface="Cambria Math"/>
              </a:rPr>
              <a:t>runtime selected and appended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C1D60E-0284-4984-A7CE-37B0B363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43575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l">
              <a:lnSpc>
                <a:spcPct val="108000"/>
              </a:lnSpc>
              <a:spcAft>
                <a:spcPts val="9"/>
              </a:spcAft>
              <a:buNone/>
              <a:def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Final distinction: </a:t>
            </a:r>
            <a:r>
              <a:rPr sz="12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parameters stayed fixed during inference; hidden states, logits, probabilities, and the KV cache depended on this prompt.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F1B57A-5E82-4494-8B94-8132E1B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133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88689C-DD4F-4F5D-B7BD-AE81A42B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150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RUNNING EXAMPLE · </a:t>
            </a:r>
            <a:r>
              <a:rPr sz="975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&lt;bos&gt; the cat → sat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A2151F-91AA-408C-AE65-A5D293C3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150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defRPr>
            </a:pP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TOKEN ID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EMBEDDING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H⁽⁰⁾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ATTENTION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MLP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LOGITS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  →  </a:t>
            </a:r>
            <a:r>
              <a:rPr sz="900" b="0" i="0">
                <a:solidFill>
                  <a:srgbClr val="171516"/>
                </a:solidFill>
                <a:latin typeface="Georgia"/>
                <a:ea typeface="Georgia"/>
                <a:cs typeface="Georgia"/>
              </a:rPr>
              <a:t>P / TOKEN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E9AAF3-1EE6-42A3-845F-A7AD54EB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315075"/>
            <a:ext cx="1866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06A5F"/>
                </a:solidFill>
                <a:latin typeface="Georgia"/>
                <a:ea typeface="Georgia"/>
                <a:cs typeface="Georgia"/>
              </a:rPr>
              <a:t>cat → sat</a:t>
            </a:r>
          </a:p>
        </p:txBody>
      </p:sp>
    </p:spTree>
    <p:extLst>
      <p:ext uri="{BB962C8B-B14F-4D97-AF65-F5344CB8AC3E}">
        <p14:creationId xmlns:p14="http://schemas.microsoft.com/office/powerpoint/2010/main" val="917462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2026-09-10T17:30:11.4330000Z</dcterms:created>
  <dcterms:modified xsi:type="dcterms:W3CDTF">2026-09-10T17:30:11.4330000Z</dcterms:modified>
</coreProperties>
</file>